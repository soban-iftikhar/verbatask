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695" cy="6858000"/>
  <p:notesSz cx="6858000" cy="12191695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9920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554570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57399676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8790678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0394807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98274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9527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92244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9054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152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7050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18623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771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849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5381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58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5108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7324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650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05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711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6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794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9069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50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21019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7945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272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3725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2130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8227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3667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449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925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56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983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147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127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7264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960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5557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5173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3978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5742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0901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55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4068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725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844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7105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0157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2541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168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3862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95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919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3508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044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6565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950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1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930887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1033910216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1629647361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2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637256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1088368904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2131065533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864582277" name="Shape 2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AFFFA">
              <a:alpha val="85000"/>
            </a:srgbClr>
          </a:solidFill>
          <a:ln/>
        </p:spPr>
      </p:sp>
      <p:pic>
        <p:nvPicPr>
          <p:cNvPr id="847017152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media1.svg"/><Relationship Id="rId6" Type="http://schemas.openxmlformats.org/officeDocument/2006/relationships/image" Target="../media/image6.png"/><Relationship Id="rId7" Type="http://schemas.openxmlformats.org/officeDocument/2006/relationships/image" Target="../media/media2.svg"/><Relationship Id="rId8" Type="http://schemas.openxmlformats.org/officeDocument/2006/relationships/image" Target="../media/image7.png"/><Relationship Id="rId9" Type="http://schemas.openxmlformats.org/officeDocument/2006/relationships/image" Target="../media/media3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media4.svg"/><Relationship Id="rId6" Type="http://schemas.openxmlformats.org/officeDocument/2006/relationships/image" Target="../media/image10.png"/><Relationship Id="rId7" Type="http://schemas.openxmlformats.org/officeDocument/2006/relationships/image" Target="../media/media5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media6.svg"/><Relationship Id="rId5" Type="http://schemas.openxmlformats.org/officeDocument/2006/relationships/image" Target="../media/image16.png"/><Relationship Id="rId6" Type="http://schemas.openxmlformats.org/officeDocument/2006/relationships/image" Target="../media/media7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media8.sv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media9.sv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verba-task.netlify.app" TargetMode="External"/><Relationship Id="rId4" Type="http://schemas.openxmlformats.org/officeDocument/2006/relationships/hyperlink" Target="https://verbatask-production.up.railway.app" TargetMode="External"/><Relationship Id="rId5" Type="http://schemas.openxmlformats.org/officeDocument/2006/relationships/hyperlink" Target="mailto:verbatask.busines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26289" name="Shape 0"/>
          <p:cNvSpPr/>
          <p:nvPr/>
        </p:nvSpPr>
        <p:spPr bwMode="auto">
          <a:xfrm flipH="0" flipV="0">
            <a:off x="0" y="0"/>
            <a:ext cx="3972765" cy="6858000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785329166" name="Text 1"/>
          <p:cNvSpPr/>
          <p:nvPr/>
        </p:nvSpPr>
        <p:spPr bwMode="auto">
          <a:xfrm>
            <a:off x="5233359" y="1435198"/>
            <a:ext cx="3084426" cy="51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1">
              <a:lnSpc>
                <a:spcPct val="104000"/>
              </a:lnSpc>
              <a:buNone/>
              <a:defRPr/>
            </a:pPr>
            <a:r>
              <a:rPr lang="fa-IR" sz="4800" b="1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Verba</a:t>
            </a:r>
            <a:r>
              <a:rPr lang="fa-IR" sz="4800" b="1">
                <a:solidFill>
                  <a:srgbClr val="00B050"/>
                </a:solidFill>
                <a:latin typeface="Fraunces ExtraBold"/>
                <a:ea typeface="Fraunces ExtraBold"/>
                <a:cs typeface="Fraunces ExtraBold"/>
              </a:rPr>
              <a:t>Task</a:t>
            </a:r>
            <a:r>
              <a:rPr lang="fa-IR" sz="4800" b="1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 </a:t>
            </a:r>
            <a:endParaRPr lang="fa-IR" sz="3250"/>
          </a:p>
        </p:txBody>
      </p:sp>
      <p:sp>
        <p:nvSpPr>
          <p:cNvPr id="1231994140" name="Text 2"/>
          <p:cNvSpPr/>
          <p:nvPr/>
        </p:nvSpPr>
        <p:spPr bwMode="auto">
          <a:xfrm>
            <a:off x="5233360" y="2199977"/>
            <a:ext cx="629686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44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Run Your Shop by Talking</a:t>
            </a:r>
            <a:endParaRPr lang="en-US" sz="4450"/>
          </a:p>
        </p:txBody>
      </p:sp>
      <p:sp>
        <p:nvSpPr>
          <p:cNvPr id="606653527" name="Text 3"/>
          <p:cNvSpPr/>
          <p:nvPr/>
        </p:nvSpPr>
        <p:spPr bwMode="auto">
          <a:xfrm>
            <a:off x="5233360" y="3874393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The Voice-First Commerce OS on WhatsApp — eliminating software friction for </a:t>
            </a:r>
            <a:r>
              <a:rPr lang="en-US" sz="13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2M+ micro-retailers</a:t>
            </a: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without apps, English literacy, or expensive hardware.</a:t>
            </a:r>
            <a:endParaRPr lang="en-US" sz="1300"/>
          </a:p>
        </p:txBody>
      </p:sp>
      <p:sp>
        <p:nvSpPr>
          <p:cNvPr id="2131186046" name="Text 4"/>
          <p:cNvSpPr/>
          <p:nvPr/>
        </p:nvSpPr>
        <p:spPr bwMode="auto">
          <a:xfrm>
            <a:off x="5233360" y="4651673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Contact</a:t>
            </a:r>
            <a:endParaRPr lang="en-US" sz="1600"/>
          </a:p>
        </p:txBody>
      </p:sp>
      <p:sp>
        <p:nvSpPr>
          <p:cNvPr id="1540084237" name="Text 5"/>
          <p:cNvSpPr/>
          <p:nvPr/>
        </p:nvSpPr>
        <p:spPr bwMode="auto">
          <a:xfrm>
            <a:off x="5233360" y="5158184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verbatask.business@gmail.com</a:t>
            </a:r>
            <a:endParaRPr lang="en-US" sz="1300"/>
          </a:p>
        </p:txBody>
      </p:sp>
      <p:pic>
        <p:nvPicPr>
          <p:cNvPr id="13092501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0"/>
            <a:ext cx="39727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77949" name="Text 0"/>
          <p:cNvSpPr/>
          <p:nvPr/>
        </p:nvSpPr>
        <p:spPr bwMode="auto">
          <a:xfrm>
            <a:off x="661475" y="754261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BUILDERS</a:t>
            </a:r>
            <a:endParaRPr lang="en-US" sz="1600"/>
          </a:p>
        </p:txBody>
      </p:sp>
      <p:sp>
        <p:nvSpPr>
          <p:cNvPr id="283014370" name="Text 1"/>
          <p:cNvSpPr/>
          <p:nvPr/>
        </p:nvSpPr>
        <p:spPr bwMode="auto">
          <a:xfrm>
            <a:off x="661475" y="10788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Team Behind VerbaTask</a:t>
            </a:r>
            <a:endParaRPr lang="en-US" sz="3250"/>
          </a:p>
        </p:txBody>
      </p:sp>
      <p:sp>
        <p:nvSpPr>
          <p:cNvPr id="1234884407" name="Text 2"/>
          <p:cNvSpPr/>
          <p:nvPr/>
        </p:nvSpPr>
        <p:spPr bwMode="auto">
          <a:xfrm>
            <a:off x="661475" y="1843584"/>
            <a:ext cx="11478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Built from scratch for Pakistan's retail reality.</a:t>
            </a:r>
            <a:endParaRPr lang="en-US" sz="1300"/>
          </a:p>
        </p:txBody>
      </p:sp>
      <p:sp>
        <p:nvSpPr>
          <p:cNvPr id="350717956" name="Shape 3"/>
          <p:cNvSpPr/>
          <p:nvPr/>
        </p:nvSpPr>
        <p:spPr bwMode="auto">
          <a:xfrm>
            <a:off x="661475" y="2480270"/>
            <a:ext cx="2420877" cy="1018977"/>
          </a:xfrm>
          <a:prstGeom prst="roundRect">
            <a:avLst>
              <a:gd name="adj" fmla="val 14608"/>
            </a:avLst>
          </a:prstGeom>
          <a:solidFill>
            <a:srgbClr val="E8F3E8"/>
          </a:solidFill>
          <a:ln/>
        </p:spPr>
      </p:sp>
      <p:sp>
        <p:nvSpPr>
          <p:cNvPr id="1838077544" name="Text 4"/>
          <p:cNvSpPr/>
          <p:nvPr/>
        </p:nvSpPr>
        <p:spPr bwMode="auto">
          <a:xfrm>
            <a:off x="826769" y="2645569"/>
            <a:ext cx="20902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Muhammad Soban</a:t>
            </a:r>
            <a:endParaRPr lang="en-US" sz="1600"/>
          </a:p>
        </p:txBody>
      </p:sp>
      <p:sp>
        <p:nvSpPr>
          <p:cNvPr id="897721518" name="Text 5"/>
          <p:cNvSpPr/>
          <p:nvPr/>
        </p:nvSpPr>
        <p:spPr bwMode="auto">
          <a:xfrm>
            <a:off x="826769" y="3069332"/>
            <a:ext cx="20902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Backend &amp; AI Engineer</a:t>
            </a:r>
            <a:endParaRPr lang="en-US" sz="1300"/>
          </a:p>
        </p:txBody>
      </p:sp>
      <p:sp>
        <p:nvSpPr>
          <p:cNvPr id="1639926901" name="Shape 6"/>
          <p:cNvSpPr/>
          <p:nvPr/>
        </p:nvSpPr>
        <p:spPr bwMode="auto">
          <a:xfrm>
            <a:off x="3247646" y="2480270"/>
            <a:ext cx="2420976" cy="1018977"/>
          </a:xfrm>
          <a:prstGeom prst="roundRect">
            <a:avLst>
              <a:gd name="adj" fmla="val 14608"/>
            </a:avLst>
          </a:prstGeom>
          <a:solidFill>
            <a:srgbClr val="E8F3E8"/>
          </a:solidFill>
          <a:ln/>
        </p:spPr>
      </p:sp>
      <p:sp>
        <p:nvSpPr>
          <p:cNvPr id="2007993443" name="Text 7"/>
          <p:cNvSpPr/>
          <p:nvPr/>
        </p:nvSpPr>
        <p:spPr bwMode="auto">
          <a:xfrm>
            <a:off x="3412940" y="2645569"/>
            <a:ext cx="20903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Muhammad Ali</a:t>
            </a:r>
            <a:endParaRPr lang="en-US" sz="1600"/>
          </a:p>
        </p:txBody>
      </p:sp>
      <p:sp>
        <p:nvSpPr>
          <p:cNvPr id="1684018577" name="Text 8"/>
          <p:cNvSpPr/>
          <p:nvPr/>
        </p:nvSpPr>
        <p:spPr bwMode="auto">
          <a:xfrm>
            <a:off x="3412940" y="3069332"/>
            <a:ext cx="20903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Backend &amp; AI Engineer</a:t>
            </a:r>
            <a:endParaRPr lang="en-US" sz="1300"/>
          </a:p>
        </p:txBody>
      </p:sp>
      <p:sp>
        <p:nvSpPr>
          <p:cNvPr id="1469762066" name="Shape 9"/>
          <p:cNvSpPr/>
          <p:nvPr/>
        </p:nvSpPr>
        <p:spPr bwMode="auto">
          <a:xfrm>
            <a:off x="661475" y="3664545"/>
            <a:ext cx="2420877" cy="1283593"/>
          </a:xfrm>
          <a:prstGeom prst="roundRect">
            <a:avLst>
              <a:gd name="adj" fmla="val 11597"/>
            </a:avLst>
          </a:prstGeom>
          <a:solidFill>
            <a:srgbClr val="E8F3E8"/>
          </a:solidFill>
          <a:ln/>
        </p:spPr>
      </p:sp>
      <p:sp>
        <p:nvSpPr>
          <p:cNvPr id="84342538" name="Text 10"/>
          <p:cNvSpPr/>
          <p:nvPr/>
        </p:nvSpPr>
        <p:spPr bwMode="auto">
          <a:xfrm>
            <a:off x="826769" y="3829844"/>
            <a:ext cx="20902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Talal Nasir</a:t>
            </a:r>
            <a:endParaRPr lang="en-US" sz="1600"/>
          </a:p>
        </p:txBody>
      </p:sp>
      <p:sp>
        <p:nvSpPr>
          <p:cNvPr id="1670700919" name="Text 11"/>
          <p:cNvSpPr/>
          <p:nvPr/>
        </p:nvSpPr>
        <p:spPr bwMode="auto">
          <a:xfrm>
            <a:off x="826769" y="4253607"/>
            <a:ext cx="20902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Frontend &amp; UI/UX Engineer</a:t>
            </a:r>
            <a:endParaRPr lang="en-US" sz="1300"/>
          </a:p>
        </p:txBody>
      </p:sp>
      <p:sp>
        <p:nvSpPr>
          <p:cNvPr id="2086614692" name="Shape 12"/>
          <p:cNvSpPr/>
          <p:nvPr/>
        </p:nvSpPr>
        <p:spPr bwMode="auto">
          <a:xfrm>
            <a:off x="3247646" y="3664545"/>
            <a:ext cx="2420976" cy="1283593"/>
          </a:xfrm>
          <a:prstGeom prst="roundRect">
            <a:avLst>
              <a:gd name="adj" fmla="val 11597"/>
            </a:avLst>
          </a:prstGeom>
          <a:solidFill>
            <a:srgbClr val="E8F3E8"/>
          </a:solidFill>
          <a:ln/>
        </p:spPr>
      </p:sp>
      <p:sp>
        <p:nvSpPr>
          <p:cNvPr id="390862771" name="Text 13"/>
          <p:cNvSpPr/>
          <p:nvPr/>
        </p:nvSpPr>
        <p:spPr bwMode="auto">
          <a:xfrm>
            <a:off x="3412940" y="3829844"/>
            <a:ext cx="20903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Muhammad Shiraz</a:t>
            </a:r>
            <a:endParaRPr lang="en-US" sz="1600"/>
          </a:p>
        </p:txBody>
      </p:sp>
      <p:sp>
        <p:nvSpPr>
          <p:cNvPr id="1004069607" name="Text 14"/>
          <p:cNvSpPr/>
          <p:nvPr/>
        </p:nvSpPr>
        <p:spPr bwMode="auto">
          <a:xfrm>
            <a:off x="3412940" y="4253607"/>
            <a:ext cx="20903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Frontend &amp; UI/UX Engineer</a:t>
            </a:r>
            <a:endParaRPr lang="en-US" sz="1300"/>
          </a:p>
        </p:txBody>
      </p:sp>
      <p:sp>
        <p:nvSpPr>
          <p:cNvPr id="1649642855" name="Text 15"/>
          <p:cNvSpPr/>
          <p:nvPr/>
        </p:nvSpPr>
        <p:spPr bwMode="auto">
          <a:xfrm>
            <a:off x="6078385" y="2683669"/>
            <a:ext cx="54580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Our Mission</a:t>
            </a:r>
            <a:endParaRPr lang="en-US" sz="1600"/>
          </a:p>
        </p:txBody>
      </p:sp>
      <p:sp>
        <p:nvSpPr>
          <p:cNvPr id="1441513091" name="Text 16"/>
          <p:cNvSpPr/>
          <p:nvPr/>
        </p:nvSpPr>
        <p:spPr bwMode="auto">
          <a:xfrm>
            <a:off x="6078385" y="3107432"/>
            <a:ext cx="545808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Bridging cutting-edge artificial intelligence with the everyday reality of neighborhood retail. We don't build software that forces shopkeepers to change; we build intelligence that meets them where they already are.</a:t>
            </a:r>
            <a:endParaRPr lang="en-US" sz="1300"/>
          </a:p>
        </p:txBody>
      </p:sp>
      <p:sp>
        <p:nvSpPr>
          <p:cNvPr id="2129307070" name="Text 17"/>
          <p:cNvSpPr/>
          <p:nvPr/>
        </p:nvSpPr>
        <p:spPr bwMode="auto">
          <a:xfrm>
            <a:off x="6078385" y="4699992"/>
            <a:ext cx="54580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Our Philosophy</a:t>
            </a:r>
            <a:endParaRPr lang="en-US" sz="1600"/>
          </a:p>
        </p:txBody>
      </p:sp>
      <p:sp>
        <p:nvSpPr>
          <p:cNvPr id="362939747" name="Text 18"/>
          <p:cNvSpPr/>
          <p:nvPr/>
        </p:nvSpPr>
        <p:spPr bwMode="auto">
          <a:xfrm>
            <a:off x="6078385" y="5123755"/>
            <a:ext cx="545808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Zero friction, zero barrier to entry. If technology cannot be used by a traditional dukaandar on a busy Friday afternoon, it isn't ready for emerging markets. We are digitizing retail one voice note at a time.</a:t>
            </a:r>
            <a:endParaRPr lang="en-US" sz="1300"/>
          </a:p>
        </p:txBody>
      </p:sp>
      <p:sp>
        <p:nvSpPr>
          <p:cNvPr id="373039264" name="Shape 19"/>
          <p:cNvSpPr/>
          <p:nvPr/>
        </p:nvSpPr>
        <p:spPr bwMode="auto">
          <a:xfrm>
            <a:off x="6059336" y="2480270"/>
            <a:ext cx="5496184" cy="381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96860013" name="Shape 20"/>
          <p:cNvSpPr/>
          <p:nvPr/>
        </p:nvSpPr>
        <p:spPr bwMode="auto">
          <a:xfrm>
            <a:off x="6059336" y="4496594"/>
            <a:ext cx="5496184" cy="38100"/>
          </a:xfrm>
          <a:prstGeom prst="rect">
            <a:avLst/>
          </a:prstGeom>
          <a:solidFill>
            <a:srgbClr val="438951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571730" name="Shape 0"/>
          <p:cNvSpPr/>
          <p:nvPr/>
        </p:nvSpPr>
        <p:spPr bwMode="auto">
          <a:xfrm>
            <a:off x="7619809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7240894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90054" y="474663"/>
            <a:ext cx="4431395" cy="5908674"/>
          </a:xfrm>
          <a:prstGeom prst="rect">
            <a:avLst/>
          </a:prstGeom>
        </p:spPr>
      </p:pic>
      <p:sp>
        <p:nvSpPr>
          <p:cNvPr id="26936662" name="Text 1"/>
          <p:cNvSpPr/>
          <p:nvPr/>
        </p:nvSpPr>
        <p:spPr bwMode="auto">
          <a:xfrm>
            <a:off x="661475" y="694035"/>
            <a:ext cx="629686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TECHNOLOGY FOUNDATION</a:t>
            </a:r>
            <a:endParaRPr lang="en-US" sz="1350"/>
          </a:p>
        </p:txBody>
      </p:sp>
      <p:sp>
        <p:nvSpPr>
          <p:cNvPr id="1109519138" name="Text 2"/>
          <p:cNvSpPr/>
          <p:nvPr/>
        </p:nvSpPr>
        <p:spPr bwMode="auto">
          <a:xfrm>
            <a:off x="661475" y="961330"/>
            <a:ext cx="6296860" cy="878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Powered by Alibaba Cloud &amp; </a:t>
            </a:r>
            <a:r>
              <a:rPr lang="en-US" sz="2750">
                <a:solidFill>
                  <a:srgbClr val="25D366"/>
                </a:solidFill>
                <a:latin typeface="Fraunces ExtraBold"/>
                <a:ea typeface="Fraunces ExtraBold"/>
                <a:cs typeface="Fraunces ExtraBold"/>
              </a:rPr>
              <a:t>Qwen AI</a:t>
            </a:r>
            <a:endParaRPr lang="en-US" sz="2750"/>
          </a:p>
        </p:txBody>
      </p:sp>
      <p:sp>
        <p:nvSpPr>
          <p:cNvPr id="659563227" name="Text 3"/>
          <p:cNvSpPr/>
          <p:nvPr/>
        </p:nvSpPr>
        <p:spPr bwMode="auto">
          <a:xfrm>
            <a:off x="661475" y="2019002"/>
            <a:ext cx="629686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Intelligence built on the Qwen ecosystem — the only LLM stack that natively understands how Pakistani shopkeepers actually speak.</a:t>
            </a:r>
            <a:endParaRPr lang="en-US" sz="1100"/>
          </a:p>
        </p:txBody>
      </p:sp>
      <p:sp>
        <p:nvSpPr>
          <p:cNvPr id="1150452888" name="Shape 4"/>
          <p:cNvSpPr/>
          <p:nvPr/>
        </p:nvSpPr>
        <p:spPr bwMode="auto">
          <a:xfrm>
            <a:off x="661475" y="2569468"/>
            <a:ext cx="3088702" cy="1945580"/>
          </a:xfrm>
          <a:prstGeom prst="roundRect">
            <a:avLst>
              <a:gd name="adj" fmla="val 6503"/>
            </a:avLst>
          </a:prstGeom>
          <a:solidFill>
            <a:srgbClr val="E8F3E8"/>
          </a:solidFill>
          <a:ln/>
        </p:spPr>
      </p:sp>
      <p:sp>
        <p:nvSpPr>
          <p:cNvPr id="140948602" name="Shape 5"/>
          <p:cNvSpPr/>
          <p:nvPr/>
        </p:nvSpPr>
        <p:spPr bwMode="auto">
          <a:xfrm>
            <a:off x="801965" y="2709962"/>
            <a:ext cx="421669" cy="42168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162051122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917949" y="2825848"/>
            <a:ext cx="189702" cy="189706"/>
          </a:xfrm>
          <a:prstGeom prst="rect">
            <a:avLst/>
          </a:prstGeom>
        </p:spPr>
      </p:pic>
      <p:sp>
        <p:nvSpPr>
          <p:cNvPr id="1438729112" name="Text 6"/>
          <p:cNvSpPr/>
          <p:nvPr/>
        </p:nvSpPr>
        <p:spPr bwMode="auto">
          <a:xfrm>
            <a:off x="801965" y="3251101"/>
            <a:ext cx="280772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Core Partnership</a:t>
            </a:r>
            <a:endParaRPr lang="en-US" sz="1350"/>
          </a:p>
        </p:txBody>
      </p:sp>
      <p:sp>
        <p:nvSpPr>
          <p:cNvPr id="1094594160" name="Text 7"/>
          <p:cNvSpPr/>
          <p:nvPr/>
        </p:nvSpPr>
        <p:spPr bwMode="auto">
          <a:xfrm>
            <a:off x="801965" y="3542308"/>
            <a:ext cx="2807721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Driven by Alibaba Cloud's high-performance </a:t>
            </a:r>
            <a:r>
              <a:rPr lang="en-US" sz="11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Qwen 2.5</a:t>
            </a: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large language models — enterprise-grade intelligence at micro-retailer scale.</a:t>
            </a:r>
            <a:endParaRPr lang="en-US" sz="1100"/>
          </a:p>
        </p:txBody>
      </p:sp>
      <p:sp>
        <p:nvSpPr>
          <p:cNvPr id="876402560" name="Shape 8"/>
          <p:cNvSpPr/>
          <p:nvPr/>
        </p:nvSpPr>
        <p:spPr bwMode="auto">
          <a:xfrm>
            <a:off x="3869632" y="2569468"/>
            <a:ext cx="3088702" cy="1945580"/>
          </a:xfrm>
          <a:prstGeom prst="roundRect">
            <a:avLst>
              <a:gd name="adj" fmla="val 6503"/>
            </a:avLst>
          </a:prstGeom>
          <a:solidFill>
            <a:srgbClr val="E8F3E8"/>
          </a:solidFill>
          <a:ln/>
        </p:spPr>
      </p:sp>
      <p:sp>
        <p:nvSpPr>
          <p:cNvPr id="2043223755" name="Shape 9"/>
          <p:cNvSpPr/>
          <p:nvPr/>
        </p:nvSpPr>
        <p:spPr bwMode="auto">
          <a:xfrm>
            <a:off x="4010123" y="2709962"/>
            <a:ext cx="421669" cy="42168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264863857" name="Image 2" descr="preencoded.png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4126107" y="2825848"/>
            <a:ext cx="189702" cy="189706"/>
          </a:xfrm>
          <a:prstGeom prst="rect">
            <a:avLst/>
          </a:prstGeom>
        </p:spPr>
      </p:pic>
      <p:sp>
        <p:nvSpPr>
          <p:cNvPr id="2096421254" name="Text 10"/>
          <p:cNvSpPr/>
          <p:nvPr/>
        </p:nvSpPr>
        <p:spPr bwMode="auto">
          <a:xfrm>
            <a:off x="4010123" y="3251101"/>
            <a:ext cx="280772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Multilingual Dominance</a:t>
            </a:r>
            <a:endParaRPr lang="en-US" sz="1350"/>
          </a:p>
        </p:txBody>
      </p:sp>
      <p:sp>
        <p:nvSpPr>
          <p:cNvPr id="2103598061" name="Text 11"/>
          <p:cNvSpPr/>
          <p:nvPr/>
        </p:nvSpPr>
        <p:spPr bwMode="auto">
          <a:xfrm>
            <a:off x="4010123" y="3542308"/>
            <a:ext cx="2807721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Qwen natively deciphers </a:t>
            </a:r>
            <a:r>
              <a:rPr lang="en-US" sz="11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colloquial Pakistani Urdu, Roman Urdu idioms, and bazaar slang</a:t>
            </a: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where every generic model stumbles and fails.</a:t>
            </a:r>
            <a:endParaRPr lang="en-US" sz="1100"/>
          </a:p>
        </p:txBody>
      </p:sp>
      <p:sp>
        <p:nvSpPr>
          <p:cNvPr id="482268390" name="Shape 12"/>
          <p:cNvSpPr/>
          <p:nvPr/>
        </p:nvSpPr>
        <p:spPr bwMode="auto">
          <a:xfrm>
            <a:off x="661475" y="4634508"/>
            <a:ext cx="6296860" cy="1529456"/>
          </a:xfrm>
          <a:prstGeom prst="roundRect">
            <a:avLst>
              <a:gd name="adj" fmla="val 8273"/>
            </a:avLst>
          </a:prstGeom>
          <a:solidFill>
            <a:srgbClr val="E8F3E8"/>
          </a:solidFill>
          <a:ln/>
        </p:spPr>
      </p:sp>
      <p:sp>
        <p:nvSpPr>
          <p:cNvPr id="1159296535" name="Shape 13"/>
          <p:cNvSpPr/>
          <p:nvPr/>
        </p:nvSpPr>
        <p:spPr bwMode="auto">
          <a:xfrm>
            <a:off x="801965" y="4775002"/>
            <a:ext cx="421669" cy="42168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050554507" name="Image 3" descr="preencoded.png"/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 bwMode="auto">
          <a:xfrm>
            <a:off x="917949" y="4890889"/>
            <a:ext cx="189702" cy="189706"/>
          </a:xfrm>
          <a:prstGeom prst="rect">
            <a:avLst/>
          </a:prstGeom>
        </p:spPr>
      </p:pic>
      <p:sp>
        <p:nvSpPr>
          <p:cNvPr id="991705404" name="Text 14"/>
          <p:cNvSpPr/>
          <p:nvPr/>
        </p:nvSpPr>
        <p:spPr bwMode="auto">
          <a:xfrm>
            <a:off x="801965" y="5316141"/>
            <a:ext cx="601587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Enterprise Reliability</a:t>
            </a:r>
            <a:endParaRPr lang="en-US" sz="1350"/>
          </a:p>
        </p:txBody>
      </p:sp>
      <p:sp>
        <p:nvSpPr>
          <p:cNvPr id="626364921" name="Text 15"/>
          <p:cNvSpPr/>
          <p:nvPr/>
        </p:nvSpPr>
        <p:spPr bwMode="auto">
          <a:xfrm>
            <a:off x="801965" y="5607348"/>
            <a:ext cx="601587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Sub-second JSON entity extraction</a:t>
            </a: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and cloud scalability engineered for millions of high-frequency micro-transactions daily.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931345" name="Text 0"/>
          <p:cNvSpPr/>
          <p:nvPr/>
        </p:nvSpPr>
        <p:spPr bwMode="auto">
          <a:xfrm>
            <a:off x="661475" y="868462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5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PROBLEM — GROUND REALITY</a:t>
            </a:r>
            <a:endParaRPr lang="en-US" sz="1500"/>
          </a:p>
        </p:txBody>
      </p:sp>
      <p:sp>
        <p:nvSpPr>
          <p:cNvPr id="914781506" name="Text 1"/>
          <p:cNvSpPr/>
          <p:nvPr/>
        </p:nvSpPr>
        <p:spPr bwMode="auto">
          <a:xfrm>
            <a:off x="661475" y="1173658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0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A Day in the Life of </a:t>
            </a:r>
            <a:r>
              <a:rPr lang="en-US" sz="3050">
                <a:solidFill>
                  <a:srgbClr val="25D366"/>
                </a:solidFill>
                <a:latin typeface="Fraunces ExtraBold"/>
                <a:ea typeface="Fraunces ExtraBold"/>
                <a:cs typeface="Fraunces ExtraBold"/>
              </a:rPr>
              <a:t>Tariq Bhai</a:t>
            </a:r>
            <a:endParaRPr lang="en-US" sz="3050"/>
          </a:p>
        </p:txBody>
      </p:sp>
      <p:sp>
        <p:nvSpPr>
          <p:cNvPr id="1542877758" name="Text 2"/>
          <p:cNvSpPr/>
          <p:nvPr/>
        </p:nvSpPr>
        <p:spPr bwMode="auto">
          <a:xfrm>
            <a:off x="661475" y="2022773"/>
            <a:ext cx="5242687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Tariq Bhai runs a busy neighborhood kiryana store handling </a:t>
            </a:r>
            <a:r>
              <a:rPr lang="en-US" sz="12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400+ transactions a day</a:t>
            </a:r>
            <a:r>
              <a:rPr lang="en-US" sz="12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across grains, cooking oils, and daily essentials. Customers are shouting orders. Delivery trucks are dropping cartons. Cash is changing hands constantly.</a:t>
            </a:r>
            <a:endParaRPr lang="en-US" sz="1200"/>
          </a:p>
        </p:txBody>
      </p:sp>
      <p:sp>
        <p:nvSpPr>
          <p:cNvPr id="265502620" name="Shape 3"/>
          <p:cNvSpPr/>
          <p:nvPr/>
        </p:nvSpPr>
        <p:spPr bwMode="auto">
          <a:xfrm>
            <a:off x="661475" y="3171329"/>
            <a:ext cx="5242687" cy="1082576"/>
          </a:xfrm>
          <a:prstGeom prst="roundRect">
            <a:avLst>
              <a:gd name="adj" fmla="val 13062"/>
            </a:avLst>
          </a:prstGeom>
          <a:solidFill>
            <a:srgbClr val="FCF2B5"/>
          </a:solidFill>
          <a:ln/>
        </p:spPr>
      </p:sp>
      <p:pic>
        <p:nvPicPr>
          <p:cNvPr id="15372796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8534" y="3387328"/>
            <a:ext cx="196349" cy="157063"/>
          </a:xfrm>
          <a:prstGeom prst="rect">
            <a:avLst/>
          </a:prstGeom>
        </p:spPr>
      </p:pic>
      <p:sp>
        <p:nvSpPr>
          <p:cNvPr id="993694084" name="Text 4"/>
          <p:cNvSpPr/>
          <p:nvPr/>
        </p:nvSpPr>
        <p:spPr bwMode="auto">
          <a:xfrm>
            <a:off x="1171943" y="3344862"/>
            <a:ext cx="457516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His entire business depends on a worn-out paper ledger — the "Khata" — prone to lost pages, math errors, and forgotten credit debts.</a:t>
            </a:r>
            <a:endParaRPr lang="en-US" sz="1200"/>
          </a:p>
        </p:txBody>
      </p:sp>
      <p:sp>
        <p:nvSpPr>
          <p:cNvPr id="158412794" name="Text 5"/>
          <p:cNvSpPr/>
          <p:nvPr/>
        </p:nvSpPr>
        <p:spPr bwMode="auto">
          <a:xfrm>
            <a:off x="661475" y="4421783"/>
            <a:ext cx="5242687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This is not an edge case. This is the daily operating reality for over </a:t>
            </a:r>
            <a:r>
              <a:rPr lang="en-US" sz="12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2 million shopkeepers</a:t>
            </a:r>
            <a:r>
              <a:rPr lang="en-US" sz="12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across Pakistan's urban and peri-urban markets.</a:t>
            </a:r>
            <a:endParaRPr lang="en-US" sz="1200"/>
          </a:p>
        </p:txBody>
      </p:sp>
      <p:pic>
        <p:nvPicPr>
          <p:cNvPr id="796607514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6293883" y="2056309"/>
            <a:ext cx="5242687" cy="992188"/>
          </a:xfrm>
          <a:prstGeom prst="rect">
            <a:avLst/>
          </a:prstGeom>
        </p:spPr>
      </p:pic>
      <p:sp>
        <p:nvSpPr>
          <p:cNvPr id="1368482332" name="Text 6"/>
          <p:cNvSpPr/>
          <p:nvPr/>
        </p:nvSpPr>
        <p:spPr bwMode="auto">
          <a:xfrm>
            <a:off x="6509282" y="2405063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8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1</a:t>
            </a:r>
            <a:endParaRPr lang="en-US" sz="1850"/>
          </a:p>
        </p:txBody>
      </p:sp>
      <p:sp>
        <p:nvSpPr>
          <p:cNvPr id="1670848464" name="Text 7"/>
          <p:cNvSpPr/>
          <p:nvPr/>
        </p:nvSpPr>
        <p:spPr bwMode="auto">
          <a:xfrm>
            <a:off x="7090590" y="2232422"/>
            <a:ext cx="426987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5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400+ Daily Transactions</a:t>
            </a:r>
            <a:endParaRPr lang="en-US" sz="1500"/>
          </a:p>
        </p:txBody>
      </p:sp>
      <p:sp>
        <p:nvSpPr>
          <p:cNvPr id="1299896804" name="Text 8"/>
          <p:cNvSpPr/>
          <p:nvPr/>
        </p:nvSpPr>
        <p:spPr bwMode="auto">
          <a:xfrm>
            <a:off x="7090590" y="2627213"/>
            <a:ext cx="426987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Grains, oils, essentials — all tracked by hand, all day long.</a:t>
            </a:r>
            <a:endParaRPr lang="en-US" sz="1200"/>
          </a:p>
        </p:txBody>
      </p:sp>
      <p:pic>
        <p:nvPicPr>
          <p:cNvPr id="900461085" name="Image 2" descr="preencoded.png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6293883" y="3197721"/>
            <a:ext cx="5242687" cy="1237357"/>
          </a:xfrm>
          <a:prstGeom prst="rect">
            <a:avLst/>
          </a:prstGeom>
        </p:spPr>
      </p:pic>
      <p:sp>
        <p:nvSpPr>
          <p:cNvPr id="1289051330" name="Text 9"/>
          <p:cNvSpPr/>
          <p:nvPr/>
        </p:nvSpPr>
        <p:spPr bwMode="auto">
          <a:xfrm>
            <a:off x="6509282" y="3669109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8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2</a:t>
            </a:r>
            <a:endParaRPr lang="en-US" sz="1850"/>
          </a:p>
        </p:txBody>
      </p:sp>
      <p:sp>
        <p:nvSpPr>
          <p:cNvPr id="1119354661" name="Text 10"/>
          <p:cNvSpPr/>
          <p:nvPr/>
        </p:nvSpPr>
        <p:spPr bwMode="auto">
          <a:xfrm>
            <a:off x="7090590" y="3373834"/>
            <a:ext cx="426987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5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The Khata Problem</a:t>
            </a:r>
            <a:endParaRPr lang="en-US" sz="1500"/>
          </a:p>
        </p:txBody>
      </p:sp>
      <p:sp>
        <p:nvSpPr>
          <p:cNvPr id="1700221403" name="Text 11"/>
          <p:cNvSpPr/>
          <p:nvPr/>
        </p:nvSpPr>
        <p:spPr bwMode="auto">
          <a:xfrm>
            <a:off x="7090590" y="3768626"/>
            <a:ext cx="426987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Lost pages, arithmetic errors, and forgotten credit debts are not bugs — they are features of the paper system.</a:t>
            </a:r>
            <a:endParaRPr lang="en-US" sz="1200"/>
          </a:p>
        </p:txBody>
      </p:sp>
      <p:pic>
        <p:nvPicPr>
          <p:cNvPr id="1943083868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293883" y="4584303"/>
            <a:ext cx="5242687" cy="1237357"/>
          </a:xfrm>
          <a:prstGeom prst="rect">
            <a:avLst/>
          </a:prstGeom>
        </p:spPr>
      </p:pic>
      <p:sp>
        <p:nvSpPr>
          <p:cNvPr id="894895563" name="Text 12"/>
          <p:cNvSpPr/>
          <p:nvPr/>
        </p:nvSpPr>
        <p:spPr bwMode="auto">
          <a:xfrm>
            <a:off x="6509282" y="5055691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8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3</a:t>
            </a:r>
            <a:endParaRPr lang="en-US" sz="1850"/>
          </a:p>
        </p:txBody>
      </p:sp>
      <p:sp>
        <p:nvSpPr>
          <p:cNvPr id="577914711" name="Text 13"/>
          <p:cNvSpPr/>
          <p:nvPr/>
        </p:nvSpPr>
        <p:spPr bwMode="auto">
          <a:xfrm>
            <a:off x="7090590" y="4760416"/>
            <a:ext cx="426987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5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Zero Digital Safety Net</a:t>
            </a:r>
            <a:endParaRPr lang="en-US" sz="1500"/>
          </a:p>
        </p:txBody>
      </p:sp>
      <p:sp>
        <p:nvSpPr>
          <p:cNvPr id="1151677108" name="Text 14"/>
          <p:cNvSpPr/>
          <p:nvPr/>
        </p:nvSpPr>
        <p:spPr bwMode="auto">
          <a:xfrm>
            <a:off x="7090590" y="5155207"/>
            <a:ext cx="426987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No backup. No audit trail. No real-time visibility into what was sold, what is owed, or what is left in stock.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54870" name="Text 0"/>
          <p:cNvSpPr/>
          <p:nvPr/>
        </p:nvSpPr>
        <p:spPr bwMode="auto">
          <a:xfrm>
            <a:off x="661475" y="90199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PROBLEM — WHY APPS FAIL</a:t>
            </a:r>
            <a:endParaRPr lang="en-US" sz="1600"/>
          </a:p>
        </p:txBody>
      </p:sp>
      <p:sp>
        <p:nvSpPr>
          <p:cNvPr id="1487073681" name="Text 1"/>
          <p:cNvSpPr/>
          <p:nvPr/>
        </p:nvSpPr>
        <p:spPr bwMode="auto">
          <a:xfrm>
            <a:off x="661475" y="1226542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</a:t>
            </a:r>
            <a:r>
              <a:rPr lang="en-US" sz="3250">
                <a:solidFill>
                  <a:srgbClr val="25D366"/>
                </a:solidFill>
                <a:latin typeface="Fraunces ExtraBold"/>
                <a:ea typeface="Fraunces ExtraBold"/>
                <a:cs typeface="Fraunces ExtraBold"/>
              </a:rPr>
              <a:t>3 Fatal Friction Points</a:t>
            </a:r>
            <a:r>
              <a:rPr lang="en-US" sz="3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 of Traditional Retail Apps</a:t>
            </a:r>
            <a:endParaRPr lang="en-US" sz="3250"/>
          </a:p>
        </p:txBody>
      </p:sp>
      <p:sp>
        <p:nvSpPr>
          <p:cNvPr id="678678717" name="Text 2"/>
          <p:cNvSpPr/>
          <p:nvPr/>
        </p:nvSpPr>
        <p:spPr bwMode="auto">
          <a:xfrm>
            <a:off x="661475" y="2508052"/>
            <a:ext cx="11478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Every major POS and inventory app has tried to crack this market. Every one has failed for the same three reasons.</a:t>
            </a:r>
            <a:endParaRPr lang="en-US" sz="1300"/>
          </a:p>
        </p:txBody>
      </p:sp>
      <p:pic>
        <p:nvPicPr>
          <p:cNvPr id="208396555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61475" y="2958703"/>
            <a:ext cx="3622882" cy="661491"/>
          </a:xfrm>
          <a:prstGeom prst="rect">
            <a:avLst/>
          </a:prstGeom>
        </p:spPr>
      </p:pic>
      <p:sp>
        <p:nvSpPr>
          <p:cNvPr id="937066051" name="Text 3"/>
          <p:cNvSpPr/>
          <p:nvPr/>
        </p:nvSpPr>
        <p:spPr bwMode="auto">
          <a:xfrm>
            <a:off x="826769" y="3785493"/>
            <a:ext cx="329229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🔤</a:t>
            </a: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 Language &amp; Literacy Trap</a:t>
            </a:r>
            <a:endParaRPr lang="en-US" sz="1600"/>
          </a:p>
        </p:txBody>
      </p:sp>
      <p:sp>
        <p:nvSpPr>
          <p:cNvPr id="497219795" name="Text 4"/>
          <p:cNvSpPr/>
          <p:nvPr/>
        </p:nvSpPr>
        <p:spPr bwMode="auto">
          <a:xfrm>
            <a:off x="826769" y="4149526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Complex POS apps are built in formal English with deep menus that shop assistants simply </a:t>
            </a:r>
            <a:r>
              <a:rPr lang="en-US" sz="13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cannot navigate</a:t>
            </a: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.</a:t>
            </a:r>
            <a:endParaRPr lang="en-US" sz="1300"/>
          </a:p>
        </p:txBody>
      </p:sp>
      <p:pic>
        <p:nvPicPr>
          <p:cNvPr id="89158827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284357" y="2958703"/>
            <a:ext cx="3622882" cy="661491"/>
          </a:xfrm>
          <a:prstGeom prst="rect">
            <a:avLst/>
          </a:prstGeom>
        </p:spPr>
      </p:pic>
      <p:sp>
        <p:nvSpPr>
          <p:cNvPr id="139896275" name="Text 5"/>
          <p:cNvSpPr/>
          <p:nvPr/>
        </p:nvSpPr>
        <p:spPr bwMode="auto">
          <a:xfrm>
            <a:off x="4449651" y="3785493"/>
            <a:ext cx="329229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💸</a:t>
            </a: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 The Hardware Tax</a:t>
            </a:r>
            <a:endParaRPr lang="en-US" sz="1600"/>
          </a:p>
        </p:txBody>
      </p:sp>
      <p:sp>
        <p:nvSpPr>
          <p:cNvPr id="291284416" name="Text 6"/>
          <p:cNvSpPr/>
          <p:nvPr/>
        </p:nvSpPr>
        <p:spPr bwMode="auto">
          <a:xfrm>
            <a:off x="4449651" y="4149526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Desktop terminals, barcode guns, and thermal printers cost over </a:t>
            </a:r>
            <a:r>
              <a:rPr lang="en-US" sz="13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Rs. 80,000</a:t>
            </a: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— completely out of reach for small shops.</a:t>
            </a:r>
            <a:endParaRPr lang="en-US" sz="1300"/>
          </a:p>
        </p:txBody>
      </p:sp>
      <p:pic>
        <p:nvPicPr>
          <p:cNvPr id="103316481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907239" y="2958703"/>
            <a:ext cx="3622882" cy="661491"/>
          </a:xfrm>
          <a:prstGeom prst="rect">
            <a:avLst/>
          </a:prstGeom>
        </p:spPr>
      </p:pic>
      <p:sp>
        <p:nvSpPr>
          <p:cNvPr id="1238815212" name="Text 7"/>
          <p:cNvSpPr/>
          <p:nvPr/>
        </p:nvSpPr>
        <p:spPr bwMode="auto">
          <a:xfrm>
            <a:off x="8072533" y="3785493"/>
            <a:ext cx="329229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⏱</a:t>
            </a: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 Rush Hour Barrier</a:t>
            </a:r>
            <a:endParaRPr lang="en-US" sz="1600"/>
          </a:p>
        </p:txBody>
      </p:sp>
      <p:sp>
        <p:nvSpPr>
          <p:cNvPr id="1270905834" name="Text 8"/>
          <p:cNvSpPr/>
          <p:nvPr/>
        </p:nvSpPr>
        <p:spPr bwMode="auto">
          <a:xfrm>
            <a:off x="8072533" y="4149526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Nobody has time to unlock a tablet, search a catalogue, and type numbers while </a:t>
            </a:r>
            <a:r>
              <a:rPr lang="en-US" sz="13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customers are waiting</a:t>
            </a: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.</a:t>
            </a:r>
            <a:endParaRPr lang="en-US" sz="1300"/>
          </a:p>
        </p:txBody>
      </p:sp>
      <p:sp>
        <p:nvSpPr>
          <p:cNvPr id="1408264973" name="Shape 9"/>
          <p:cNvSpPr/>
          <p:nvPr/>
        </p:nvSpPr>
        <p:spPr bwMode="auto">
          <a:xfrm>
            <a:off x="661475" y="5294709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FB3B4"/>
          </a:solidFill>
          <a:ln/>
        </p:spPr>
      </p:sp>
      <p:pic>
        <p:nvPicPr>
          <p:cNvPr id="1916350835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26769" y="5534422"/>
            <a:ext cx="206667" cy="165298"/>
          </a:xfrm>
          <a:prstGeom prst="rect">
            <a:avLst/>
          </a:prstGeom>
        </p:spPr>
      </p:pic>
      <p:sp>
        <p:nvSpPr>
          <p:cNvPr id="22691148" name="Text 10"/>
          <p:cNvSpPr/>
          <p:nvPr/>
        </p:nvSpPr>
        <p:spPr bwMode="auto">
          <a:xfrm>
            <a:off x="1198731" y="5501283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 b="1">
                <a:solidFill>
                  <a:srgbClr val="000000"/>
                </a:solidFill>
                <a:latin typeface="Nobile Bold"/>
                <a:ea typeface="Nobile Bold"/>
                <a:cs typeface="Nobile Bold"/>
              </a:rPr>
              <a:t>The Result:</a:t>
            </a:r>
            <a:r>
              <a:rPr lang="en-US" sz="13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 More than 85% of retail management apps get uninstalled within the first week of download.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374673" name="Text 0"/>
          <p:cNvSpPr/>
          <p:nvPr/>
        </p:nvSpPr>
        <p:spPr bwMode="auto">
          <a:xfrm>
            <a:off x="661475" y="48647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EPIPHANY</a:t>
            </a:r>
            <a:endParaRPr lang="en-US" sz="1600"/>
          </a:p>
        </p:txBody>
      </p:sp>
      <p:sp>
        <p:nvSpPr>
          <p:cNvPr id="1529651758" name="Text 1"/>
          <p:cNvSpPr/>
          <p:nvPr/>
        </p:nvSpPr>
        <p:spPr bwMode="auto">
          <a:xfrm>
            <a:off x="661475" y="811014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Why Build an App When They Already </a:t>
            </a:r>
            <a:r>
              <a:rPr lang="en-US" sz="3250">
                <a:solidFill>
                  <a:srgbClr val="25D366"/>
                </a:solidFill>
                <a:latin typeface="Fraunces ExtraBold"/>
                <a:ea typeface="Fraunces ExtraBold"/>
                <a:cs typeface="Fraunces ExtraBold"/>
              </a:rPr>
              <a:t>Live on WhatsApp?</a:t>
            </a:r>
            <a:endParaRPr lang="en-US" sz="3250"/>
          </a:p>
        </p:txBody>
      </p:sp>
      <p:sp>
        <p:nvSpPr>
          <p:cNvPr id="11506497" name="Text 2"/>
          <p:cNvSpPr/>
          <p:nvPr/>
        </p:nvSpPr>
        <p:spPr bwMode="auto">
          <a:xfrm>
            <a:off x="661475" y="2241352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Shopkeepers spend </a:t>
            </a:r>
            <a:r>
              <a:rPr lang="en-US" sz="13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8 to 10 hours every day</a:t>
            </a: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on WhatsApp communicating with suppliers, family, and customers. The platform is already open. The habit is already formed. The trust is already there.</a:t>
            </a:r>
            <a:endParaRPr lang="en-US" sz="1300"/>
          </a:p>
        </p:txBody>
      </p:sp>
      <p:pic>
        <p:nvPicPr>
          <p:cNvPr id="1328354898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42425" y="3466802"/>
            <a:ext cx="5251715" cy="1255713"/>
          </a:xfrm>
          <a:prstGeom prst="rect">
            <a:avLst/>
          </a:prstGeom>
        </p:spPr>
      </p:pic>
      <p:sp>
        <p:nvSpPr>
          <p:cNvPr id="91416357" name="Text 3"/>
          <p:cNvSpPr/>
          <p:nvPr/>
        </p:nvSpPr>
        <p:spPr bwMode="auto">
          <a:xfrm>
            <a:off x="864868" y="3485852"/>
            <a:ext cx="502927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Zero Friction Onboarding</a:t>
            </a:r>
            <a:endParaRPr lang="en-US" sz="1600"/>
          </a:p>
        </p:txBody>
      </p:sp>
      <p:sp>
        <p:nvSpPr>
          <p:cNvPr id="683929454" name="Text 4"/>
          <p:cNvSpPr/>
          <p:nvPr/>
        </p:nvSpPr>
        <p:spPr bwMode="auto">
          <a:xfrm>
            <a:off x="864868" y="3909616"/>
            <a:ext cx="502927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If a merchant knows how to hold down the green WhatsApp microphone, they already know how to operate VerbaTask. Full stop.</a:t>
            </a:r>
            <a:endParaRPr lang="en-US" sz="1300"/>
          </a:p>
        </p:txBody>
      </p:sp>
      <p:pic>
        <p:nvPicPr>
          <p:cNvPr id="722465673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642425" y="5015111"/>
            <a:ext cx="5251715" cy="991096"/>
          </a:xfrm>
          <a:prstGeom prst="rect">
            <a:avLst/>
          </a:prstGeom>
        </p:spPr>
      </p:pic>
      <p:sp>
        <p:nvSpPr>
          <p:cNvPr id="326057986" name="Text 5"/>
          <p:cNvSpPr/>
          <p:nvPr/>
        </p:nvSpPr>
        <p:spPr bwMode="auto">
          <a:xfrm>
            <a:off x="864868" y="5034161"/>
            <a:ext cx="502927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No Storage Penalty</a:t>
            </a:r>
            <a:endParaRPr lang="en-US" sz="1600"/>
          </a:p>
        </p:txBody>
      </p:sp>
      <p:sp>
        <p:nvSpPr>
          <p:cNvPr id="1967742216" name="Text 6"/>
          <p:cNvSpPr/>
          <p:nvPr/>
        </p:nvSpPr>
        <p:spPr bwMode="auto">
          <a:xfrm>
            <a:off x="864868" y="5457924"/>
            <a:ext cx="502927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Zero Play Store downloads. Zero phone storage consumed on entry-level Android devices that are already full.</a:t>
            </a:r>
            <a:endParaRPr lang="en-US" sz="1300"/>
          </a:p>
        </p:txBody>
      </p:sp>
      <p:sp>
        <p:nvSpPr>
          <p:cNvPr id="365201630" name="Text 7"/>
          <p:cNvSpPr/>
          <p:nvPr/>
        </p:nvSpPr>
        <p:spPr bwMode="auto">
          <a:xfrm>
            <a:off x="6303904" y="2361208"/>
            <a:ext cx="5232666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42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50M+</a:t>
            </a:r>
            <a:endParaRPr lang="en-US" sz="4250"/>
          </a:p>
        </p:txBody>
      </p:sp>
      <p:sp>
        <p:nvSpPr>
          <p:cNvPr id="1919880221" name="Text 8"/>
          <p:cNvSpPr/>
          <p:nvPr/>
        </p:nvSpPr>
        <p:spPr bwMode="auto">
          <a:xfrm>
            <a:off x="6303904" y="311368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Active WhatsApp Users</a:t>
            </a:r>
            <a:endParaRPr lang="en-US" sz="1600"/>
          </a:p>
        </p:txBody>
      </p:sp>
      <p:sp>
        <p:nvSpPr>
          <p:cNvPr id="2087697392" name="Text 9"/>
          <p:cNvSpPr/>
          <p:nvPr/>
        </p:nvSpPr>
        <p:spPr bwMode="auto">
          <a:xfrm>
            <a:off x="6303904" y="3537446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In Pakistan alone — the platform is already the de facto communication OS for the entire merchant class.</a:t>
            </a:r>
            <a:endParaRPr lang="en-US" sz="1300"/>
          </a:p>
        </p:txBody>
      </p:sp>
      <p:sp>
        <p:nvSpPr>
          <p:cNvPr id="1020515488" name="Text 10"/>
          <p:cNvSpPr/>
          <p:nvPr/>
        </p:nvSpPr>
        <p:spPr bwMode="auto">
          <a:xfrm>
            <a:off x="6303904" y="4480024"/>
            <a:ext cx="5232666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42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8–10h</a:t>
            </a:r>
            <a:endParaRPr lang="en-US" sz="4250"/>
          </a:p>
        </p:txBody>
      </p:sp>
      <p:sp>
        <p:nvSpPr>
          <p:cNvPr id="912095330" name="Text 11"/>
          <p:cNvSpPr/>
          <p:nvPr/>
        </p:nvSpPr>
        <p:spPr bwMode="auto">
          <a:xfrm>
            <a:off x="6303904" y="523249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Daily Time on WhatsApp</a:t>
            </a:r>
            <a:endParaRPr lang="en-US" sz="1600"/>
          </a:p>
        </p:txBody>
      </p:sp>
      <p:sp>
        <p:nvSpPr>
          <p:cNvPr id="1832899591" name="Text 12"/>
          <p:cNvSpPr/>
          <p:nvPr/>
        </p:nvSpPr>
        <p:spPr bwMode="auto">
          <a:xfrm>
            <a:off x="6303904" y="5656263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Per shopkeeper — more time than any other app, tool, or platform in their daily workflow.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32096" name="Text 0"/>
          <p:cNvSpPr/>
          <p:nvPr/>
        </p:nvSpPr>
        <p:spPr bwMode="auto">
          <a:xfrm>
            <a:off x="661475" y="639465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SOLUTION</a:t>
            </a:r>
            <a:endParaRPr lang="en-US" sz="1600"/>
          </a:p>
        </p:txBody>
      </p:sp>
      <p:sp>
        <p:nvSpPr>
          <p:cNvPr id="680285817" name="Text 1"/>
          <p:cNvSpPr/>
          <p:nvPr/>
        </p:nvSpPr>
        <p:spPr bwMode="auto">
          <a:xfrm>
            <a:off x="661475" y="964009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Introducing </a:t>
            </a:r>
            <a:r>
              <a:rPr lang="en-US" sz="3250">
                <a:solidFill>
                  <a:srgbClr val="25D366"/>
                </a:solidFill>
                <a:latin typeface="Fraunces ExtraBold"/>
                <a:ea typeface="Fraunces ExtraBold"/>
                <a:cs typeface="Fraunces ExtraBold"/>
              </a:rPr>
              <a:t>VerbaTask</a:t>
            </a:r>
            <a:r>
              <a:rPr lang="en-US" sz="3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 — Your Voice-First Autonomous Back-Office</a:t>
            </a:r>
            <a:endParaRPr lang="en-US" sz="3250"/>
          </a:p>
        </p:txBody>
      </p:sp>
      <p:sp>
        <p:nvSpPr>
          <p:cNvPr id="358469363" name="Text 2"/>
          <p:cNvSpPr/>
          <p:nvPr/>
        </p:nvSpPr>
        <p:spPr bwMode="auto">
          <a:xfrm>
            <a:off x="909516" y="2431554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"2 mix mithai aur 5 kilo chawal cash pe bech diye."</a:t>
            </a:r>
            <a:endParaRPr lang="en-US" sz="1300"/>
          </a:p>
        </p:txBody>
      </p:sp>
      <p:sp>
        <p:nvSpPr>
          <p:cNvPr id="738485179" name="Shape 3"/>
          <p:cNvSpPr/>
          <p:nvPr/>
        </p:nvSpPr>
        <p:spPr bwMode="auto">
          <a:xfrm>
            <a:off x="661475" y="2245519"/>
            <a:ext cx="19050" cy="636687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  <p:sp>
        <p:nvSpPr>
          <p:cNvPr id="706582644" name="Text 4"/>
          <p:cNvSpPr/>
          <p:nvPr/>
        </p:nvSpPr>
        <p:spPr bwMode="auto">
          <a:xfrm>
            <a:off x="661475" y="306824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That single spoken sentence — in colloquial Urdu, recorded as a WhatsApp voice note — is all it takes. VerbaTask handles everything else in under 2 seconds.</a:t>
            </a:r>
            <a:endParaRPr lang="en-US" sz="1300"/>
          </a:p>
        </p:txBody>
      </p:sp>
      <p:sp>
        <p:nvSpPr>
          <p:cNvPr id="78366035" name="Shape 5"/>
          <p:cNvSpPr/>
          <p:nvPr/>
        </p:nvSpPr>
        <p:spPr bwMode="auto">
          <a:xfrm>
            <a:off x="661475" y="3783509"/>
            <a:ext cx="10868745" cy="2435026"/>
          </a:xfrm>
          <a:prstGeom prst="roundRect">
            <a:avLst>
              <a:gd name="adj" fmla="val 6113"/>
            </a:avLst>
          </a:prstGeom>
          <a:solidFill>
            <a:srgbClr val="E8F3E8"/>
          </a:solidFill>
          <a:ln/>
        </p:spPr>
      </p:sp>
      <p:sp>
        <p:nvSpPr>
          <p:cNvPr id="1999944972" name="Shape 6"/>
          <p:cNvSpPr/>
          <p:nvPr/>
        </p:nvSpPr>
        <p:spPr bwMode="auto">
          <a:xfrm>
            <a:off x="661475" y="3783509"/>
            <a:ext cx="5434373" cy="1217513"/>
          </a:xfrm>
          <a:custGeom>
            <a:avLst/>
            <a:gdLst/>
            <a:ahLst/>
            <a:cxnLst/>
            <a:rect l="l" t="t" r="r" b="b"/>
            <a:pathLst>
              <a:path w="5434373" h="1217513" fill="norm" stroke="1" extrusionOk="0">
                <a:moveTo>
                  <a:pt x="124044" y="0"/>
                </a:moveTo>
                <a:lnTo>
                  <a:pt x="5434373" y="0"/>
                </a:lnTo>
                <a:lnTo>
                  <a:pt x="5434373" y="1217513"/>
                </a:lnTo>
                <a:lnTo>
                  <a:pt x="0" y="1217513"/>
                </a:lnTo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971210420" name="Text 7"/>
          <p:cNvSpPr/>
          <p:nvPr/>
        </p:nvSpPr>
        <p:spPr bwMode="auto">
          <a:xfrm>
            <a:off x="826769" y="3948807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Merchant Speaks</a:t>
            </a:r>
            <a:endParaRPr lang="en-US" sz="1600"/>
          </a:p>
        </p:txBody>
      </p:sp>
      <p:sp>
        <p:nvSpPr>
          <p:cNvPr id="1430589771" name="Text 8"/>
          <p:cNvSpPr/>
          <p:nvPr/>
        </p:nvSpPr>
        <p:spPr bwMode="auto">
          <a:xfrm>
            <a:off x="826769" y="4306491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A natural 3-second voice note in any mix of Urdu, Roman Urdu, or English. No formatting. No commands. Just talk.</a:t>
            </a:r>
            <a:endParaRPr lang="en-US" sz="1300"/>
          </a:p>
        </p:txBody>
      </p:sp>
      <p:sp>
        <p:nvSpPr>
          <p:cNvPr id="9753412" name="Shape 9"/>
          <p:cNvSpPr/>
          <p:nvPr/>
        </p:nvSpPr>
        <p:spPr bwMode="auto">
          <a:xfrm>
            <a:off x="6095848" y="3783509"/>
            <a:ext cx="5434373" cy="1217513"/>
          </a:xfrm>
          <a:custGeom>
            <a:avLst/>
            <a:gdLst/>
            <a:ahLst/>
            <a:cxnLst/>
            <a:rect l="l" t="t" r="r" b="b"/>
            <a:pathLst>
              <a:path w="5434373" h="1217513" fill="norm" stroke="1" extrusionOk="0">
                <a:moveTo>
                  <a:pt x="0" y="0"/>
                </a:moveTo>
                <a:lnTo>
                  <a:pt x="5310329" y="0"/>
                </a:lnTo>
                <a:arcTo wR="124044" hR="124047" stAng="16200000" swAng="5400000"/>
                <a:lnTo>
                  <a:pt x="5434373" y="1217513"/>
                </a:lnTo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942172927" name="Shape 10"/>
          <p:cNvSpPr/>
          <p:nvPr/>
        </p:nvSpPr>
        <p:spPr bwMode="auto">
          <a:xfrm>
            <a:off x="6095848" y="3783509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202251375" name="Text 11"/>
          <p:cNvSpPr/>
          <p:nvPr/>
        </p:nvSpPr>
        <p:spPr bwMode="auto">
          <a:xfrm>
            <a:off x="6261142" y="3948807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AI Understands</a:t>
            </a:r>
            <a:endParaRPr lang="en-US" sz="1600"/>
          </a:p>
        </p:txBody>
      </p:sp>
      <p:sp>
        <p:nvSpPr>
          <p:cNvPr id="728584824" name="Text 12"/>
          <p:cNvSpPr/>
          <p:nvPr/>
        </p:nvSpPr>
        <p:spPr bwMode="auto">
          <a:xfrm>
            <a:off x="6261142" y="4306491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Transcribes speech, identifies products across scripts, extracts quantities, rates, and payment method automatically.</a:t>
            </a:r>
            <a:endParaRPr lang="en-US" sz="1300"/>
          </a:p>
        </p:txBody>
      </p:sp>
      <p:sp>
        <p:nvSpPr>
          <p:cNvPr id="775528773" name="Shape 13"/>
          <p:cNvSpPr/>
          <p:nvPr/>
        </p:nvSpPr>
        <p:spPr bwMode="auto">
          <a:xfrm>
            <a:off x="661475" y="5001022"/>
            <a:ext cx="5434373" cy="1217513"/>
          </a:xfrm>
          <a:custGeom>
            <a:avLst/>
            <a:gdLst/>
            <a:ahLst/>
            <a:cxnLst/>
            <a:rect l="l" t="t" r="r" b="b"/>
            <a:pathLst>
              <a:path w="5434373" h="1217513" fill="norm" stroke="1" extrusionOk="0">
                <a:moveTo>
                  <a:pt x="0" y="0"/>
                </a:moveTo>
                <a:lnTo>
                  <a:pt x="5434373" y="0"/>
                </a:lnTo>
                <a:lnTo>
                  <a:pt x="5434373" y="1217513"/>
                </a:lnTo>
                <a:lnTo>
                  <a:pt x="124044" y="1217513"/>
                </a:lnTo>
                <a:arcTo wR="124044" hR="124047" stAng="5400000" swAng="5400000"/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690672578" name="Shape 14"/>
          <p:cNvSpPr/>
          <p:nvPr/>
        </p:nvSpPr>
        <p:spPr bwMode="auto">
          <a:xfrm>
            <a:off x="661475" y="5001022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860546340" name="Text 15"/>
          <p:cNvSpPr/>
          <p:nvPr/>
        </p:nvSpPr>
        <p:spPr bwMode="auto">
          <a:xfrm>
            <a:off x="826769" y="5166320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System Executes</a:t>
            </a:r>
            <a:endParaRPr lang="en-US" sz="1600"/>
          </a:p>
        </p:txBody>
      </p:sp>
      <p:sp>
        <p:nvSpPr>
          <p:cNvPr id="891951100" name="Text 16"/>
          <p:cNvSpPr/>
          <p:nvPr/>
        </p:nvSpPr>
        <p:spPr bwMode="auto">
          <a:xfrm>
            <a:off x="826769" y="5524004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Deducts inventory, records revenue, and replies with a digital receipt </a:t>
            </a:r>
            <a:r>
              <a:rPr lang="en-US" sz="13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and</a:t>
            </a: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a voice note confirmation — all in 2 seconds.</a:t>
            </a:r>
            <a:endParaRPr lang="en-US" sz="1300"/>
          </a:p>
        </p:txBody>
      </p:sp>
      <p:sp>
        <p:nvSpPr>
          <p:cNvPr id="434544473" name="Shape 17"/>
          <p:cNvSpPr/>
          <p:nvPr/>
        </p:nvSpPr>
        <p:spPr bwMode="auto">
          <a:xfrm>
            <a:off x="6095848" y="5001022"/>
            <a:ext cx="5434373" cy="1217513"/>
          </a:xfrm>
          <a:custGeom>
            <a:avLst/>
            <a:gdLst/>
            <a:ahLst/>
            <a:cxnLst/>
            <a:rect l="l" t="t" r="r" b="b"/>
            <a:pathLst>
              <a:path w="5434373" h="1217513" fill="norm" stroke="1" extrusionOk="0">
                <a:moveTo>
                  <a:pt x="0" y="0"/>
                </a:moveTo>
                <a:lnTo>
                  <a:pt x="5434373" y="0"/>
                </a:lnTo>
                <a:lnTo>
                  <a:pt x="5434373" y="1093467"/>
                </a:lnTo>
                <a:arcTo wR="124044" hR="124047" stAng="0" swAng="5400000"/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1281597583" name="Shape 18"/>
          <p:cNvSpPr/>
          <p:nvPr/>
        </p:nvSpPr>
        <p:spPr bwMode="auto">
          <a:xfrm>
            <a:off x="6095848" y="5001022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423150641" name="Shape 19"/>
          <p:cNvSpPr/>
          <p:nvPr/>
        </p:nvSpPr>
        <p:spPr bwMode="auto">
          <a:xfrm>
            <a:off x="6095848" y="5001022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98802166" name="Text 20"/>
          <p:cNvSpPr/>
          <p:nvPr/>
        </p:nvSpPr>
        <p:spPr bwMode="auto">
          <a:xfrm>
            <a:off x="6261142" y="5166320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Dashboard Syncs</a:t>
            </a:r>
            <a:endParaRPr lang="en-US" sz="1600"/>
          </a:p>
        </p:txBody>
      </p:sp>
      <p:sp>
        <p:nvSpPr>
          <p:cNvPr id="1648477598" name="Text 21"/>
          <p:cNvSpPr/>
          <p:nvPr/>
        </p:nvSpPr>
        <p:spPr bwMode="auto">
          <a:xfrm>
            <a:off x="6261142" y="5524004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Live web dashboard updates within </a:t>
            </a:r>
            <a:r>
              <a:rPr lang="en-US" sz="13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100ms</a:t>
            </a: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via WebSockets. No refresh. No delay. Always current.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810718" name="Text 0"/>
          <p:cNvSpPr/>
          <p:nvPr/>
        </p:nvSpPr>
        <p:spPr bwMode="auto">
          <a:xfrm>
            <a:off x="661475" y="515342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TECHNICAL ARCHITECTURE</a:t>
            </a:r>
            <a:endParaRPr lang="en-US" sz="1100"/>
          </a:p>
        </p:txBody>
      </p:sp>
      <p:sp>
        <p:nvSpPr>
          <p:cNvPr id="354947635" name="Text 1"/>
          <p:cNvSpPr/>
          <p:nvPr/>
        </p:nvSpPr>
        <p:spPr bwMode="auto">
          <a:xfrm>
            <a:off x="661475" y="728563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Under The Hood — </a:t>
            </a:r>
            <a:r>
              <a:rPr lang="en-US" sz="2250">
                <a:solidFill>
                  <a:srgbClr val="25D366"/>
                </a:solidFill>
                <a:latin typeface="Fraunces ExtraBold"/>
                <a:ea typeface="Fraunces ExtraBold"/>
                <a:cs typeface="Fraunces ExtraBold"/>
              </a:rPr>
              <a:t>Sub-Second Voice AI Pipeline</a:t>
            </a:r>
            <a:endParaRPr lang="en-US" sz="2250"/>
          </a:p>
        </p:txBody>
      </p:sp>
      <p:pic>
        <p:nvPicPr>
          <p:cNvPr id="79188392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02056" y="1211858"/>
            <a:ext cx="6787484" cy="3708995"/>
          </a:xfrm>
          <a:prstGeom prst="rect">
            <a:avLst/>
          </a:prstGeom>
        </p:spPr>
      </p:pic>
      <p:sp>
        <p:nvSpPr>
          <p:cNvPr id="1918999564" name="Text 2"/>
          <p:cNvSpPr/>
          <p:nvPr/>
        </p:nvSpPr>
        <p:spPr bwMode="auto">
          <a:xfrm>
            <a:off x="3597130" y="2949742"/>
            <a:ext cx="1572693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Speak</a:t>
            </a:r>
            <a:endParaRPr lang="en-US" sz="1300"/>
          </a:p>
        </p:txBody>
      </p:sp>
      <p:sp>
        <p:nvSpPr>
          <p:cNvPr id="1171910557" name="Text 3"/>
          <p:cNvSpPr/>
          <p:nvPr/>
        </p:nvSpPr>
        <p:spPr bwMode="auto">
          <a:xfrm>
            <a:off x="7568448" y="2925611"/>
            <a:ext cx="1572693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Understand</a:t>
            </a:r>
            <a:endParaRPr lang="en-US" sz="1300"/>
          </a:p>
        </p:txBody>
      </p:sp>
      <p:sp>
        <p:nvSpPr>
          <p:cNvPr id="1520006691" name="Text 4"/>
          <p:cNvSpPr/>
          <p:nvPr/>
        </p:nvSpPr>
        <p:spPr bwMode="auto">
          <a:xfrm>
            <a:off x="5628436" y="2933337"/>
            <a:ext cx="1572693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Execute</a:t>
            </a:r>
            <a:endParaRPr lang="en-US" sz="1300"/>
          </a:p>
        </p:txBody>
      </p:sp>
      <p:pic>
        <p:nvPicPr>
          <p:cNvPr id="319544914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661475" y="5103019"/>
            <a:ext cx="2606114" cy="1148457"/>
          </a:xfrm>
          <a:prstGeom prst="rect">
            <a:avLst/>
          </a:prstGeom>
        </p:spPr>
      </p:pic>
      <p:sp>
        <p:nvSpPr>
          <p:cNvPr id="1676728839" name="Text 5"/>
          <p:cNvSpPr/>
          <p:nvPr/>
        </p:nvSpPr>
        <p:spPr bwMode="auto">
          <a:xfrm>
            <a:off x="840659" y="5231408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High-Accuracy ASR</a:t>
            </a:r>
            <a:endParaRPr lang="en-US" sz="1100"/>
          </a:p>
        </p:txBody>
      </p:sp>
      <p:sp>
        <p:nvSpPr>
          <p:cNvPr id="1979053310" name="Text 6"/>
          <p:cNvSpPr/>
          <p:nvPr/>
        </p:nvSpPr>
        <p:spPr bwMode="auto">
          <a:xfrm>
            <a:off x="840659" y="5493246"/>
            <a:ext cx="229854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999"/>
              </a:lnSpc>
              <a:buNone/>
              <a:defRPr/>
            </a:pPr>
            <a:r>
              <a:rPr lang="en-US" sz="9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Groq-accelerated </a:t>
            </a:r>
            <a:r>
              <a:rPr lang="en-US" sz="9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Whisper-large-v3</a:t>
            </a:r>
            <a:r>
              <a:rPr lang="en-US" sz="9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captures authentic Perso-Arabic Urdu script in approximately </a:t>
            </a:r>
            <a:r>
              <a:rPr lang="en-US" sz="9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~400ms</a:t>
            </a:r>
            <a:r>
              <a:rPr lang="en-US" sz="9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.</a:t>
            </a:r>
            <a:endParaRPr lang="en-US" sz="900"/>
          </a:p>
        </p:txBody>
      </p:sp>
      <p:pic>
        <p:nvPicPr>
          <p:cNvPr id="2065886489" name="Image 2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48549" y="5103019"/>
            <a:ext cx="2606114" cy="1148457"/>
          </a:xfrm>
          <a:prstGeom prst="rect">
            <a:avLst/>
          </a:prstGeom>
        </p:spPr>
      </p:pic>
      <p:sp>
        <p:nvSpPr>
          <p:cNvPr id="404172967" name="Text 7"/>
          <p:cNvSpPr/>
          <p:nvPr/>
        </p:nvSpPr>
        <p:spPr bwMode="auto">
          <a:xfrm>
            <a:off x="3527734" y="5231408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Zero-Shot Entity Parsing</a:t>
            </a:r>
            <a:endParaRPr lang="en-US" sz="1100"/>
          </a:p>
        </p:txBody>
      </p:sp>
      <p:sp>
        <p:nvSpPr>
          <p:cNvPr id="1149414975" name="Text 8"/>
          <p:cNvSpPr/>
          <p:nvPr/>
        </p:nvSpPr>
        <p:spPr bwMode="auto">
          <a:xfrm>
            <a:off x="3527734" y="5493246"/>
            <a:ext cx="229854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999"/>
              </a:lnSpc>
              <a:buNone/>
              <a:defRPr/>
            </a:pPr>
            <a:r>
              <a:rPr lang="en-US" sz="9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Qwen 2.5</a:t>
            </a:r>
            <a:r>
              <a:rPr lang="en-US" sz="9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structures unpunctuated spoken sentences into strict, validated JSON commands — no training data required per merchant.</a:t>
            </a:r>
            <a:endParaRPr lang="en-US" sz="900"/>
          </a:p>
        </p:txBody>
      </p:sp>
      <p:pic>
        <p:nvPicPr>
          <p:cNvPr id="1701781250" name="Image 3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43382" y="5103019"/>
            <a:ext cx="2606114" cy="1148457"/>
          </a:xfrm>
          <a:prstGeom prst="rect">
            <a:avLst/>
          </a:prstGeom>
        </p:spPr>
      </p:pic>
      <p:sp>
        <p:nvSpPr>
          <p:cNvPr id="1484191774" name="Text 9"/>
          <p:cNvSpPr/>
          <p:nvPr/>
        </p:nvSpPr>
        <p:spPr bwMode="auto">
          <a:xfrm>
            <a:off x="6422567" y="5231408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Humanized Voice-Out</a:t>
            </a:r>
            <a:endParaRPr lang="en-US" sz="1100"/>
          </a:p>
        </p:txBody>
      </p:sp>
      <p:sp>
        <p:nvSpPr>
          <p:cNvPr id="585307389" name="Text 10"/>
          <p:cNvSpPr/>
          <p:nvPr/>
        </p:nvSpPr>
        <p:spPr bwMode="auto">
          <a:xfrm>
            <a:off x="6422567" y="5493246"/>
            <a:ext cx="229854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999"/>
              </a:lnSpc>
              <a:buNone/>
              <a:defRPr/>
            </a:pPr>
            <a:r>
              <a:rPr lang="en-US" sz="9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Edge Neural TTS (</a:t>
            </a:r>
            <a:r>
              <a:rPr lang="en-US" sz="9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Uzma Neural</a:t>
            </a:r>
            <a:r>
              <a:rPr lang="en-US" sz="9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) replies in natural spoken Urdu so merchants can listen to confirmations completely hands-free.</a:t>
            </a:r>
            <a:endParaRPr lang="en-US" sz="900"/>
          </a:p>
        </p:txBody>
      </p:sp>
      <p:pic>
        <p:nvPicPr>
          <p:cNvPr id="99099016" name="Image 4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30456" y="5103019"/>
            <a:ext cx="2606114" cy="1148457"/>
          </a:xfrm>
          <a:prstGeom prst="rect">
            <a:avLst/>
          </a:prstGeom>
        </p:spPr>
      </p:pic>
      <p:sp>
        <p:nvSpPr>
          <p:cNvPr id="615511991" name="Text 11"/>
          <p:cNvSpPr/>
          <p:nvPr/>
        </p:nvSpPr>
        <p:spPr bwMode="auto">
          <a:xfrm>
            <a:off x="9109641" y="5231408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Full Stack</a:t>
            </a:r>
            <a:endParaRPr lang="en-US" sz="1100"/>
          </a:p>
        </p:txBody>
      </p:sp>
      <p:sp>
        <p:nvSpPr>
          <p:cNvPr id="1410004337" name="Text 12"/>
          <p:cNvSpPr/>
          <p:nvPr/>
        </p:nvSpPr>
        <p:spPr bwMode="auto">
          <a:xfrm>
            <a:off x="9109641" y="5493246"/>
            <a:ext cx="229854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999"/>
              </a:lnSpc>
              <a:buNone/>
              <a:defRPr/>
            </a:pPr>
            <a:r>
              <a:rPr lang="en-US" sz="9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WhatsApp Cloud API → Whisper v3 → Qwen 2.5 → Edge TTS → </a:t>
            </a:r>
            <a:r>
              <a:rPr lang="en-US" sz="9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MongoDB &amp; WebSockets</a:t>
            </a:r>
            <a:r>
              <a:rPr lang="en-US" sz="9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. Battle-tested. Production deployed.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023259" name="Text 0"/>
          <p:cNvSpPr/>
          <p:nvPr/>
        </p:nvSpPr>
        <p:spPr bwMode="auto">
          <a:xfrm>
            <a:off x="661475" y="458788"/>
            <a:ext cx="10868745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LANGUAGE INTELLIGENCE</a:t>
            </a:r>
            <a:endParaRPr lang="en-US" sz="1000"/>
          </a:p>
        </p:txBody>
      </p:sp>
      <p:sp>
        <p:nvSpPr>
          <p:cNvPr id="646803889" name="Text 1"/>
          <p:cNvSpPr/>
          <p:nvPr/>
        </p:nvSpPr>
        <p:spPr bwMode="auto">
          <a:xfrm>
            <a:off x="661475" y="644128"/>
            <a:ext cx="10868745" cy="3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0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Breaking The Script Barrier — </a:t>
            </a:r>
            <a:r>
              <a:rPr lang="en-US" sz="2000">
                <a:solidFill>
                  <a:srgbClr val="25D366"/>
                </a:solidFill>
                <a:latin typeface="Fraunces ExtraBold"/>
                <a:ea typeface="Fraunces ExtraBold"/>
                <a:cs typeface="Fraunces ExtraBold"/>
              </a:rPr>
              <a:t>Cross-Lingual Phonetic Engine</a:t>
            </a:r>
            <a:endParaRPr lang="en-US" sz="2000"/>
          </a:p>
        </p:txBody>
      </p:sp>
      <p:sp>
        <p:nvSpPr>
          <p:cNvPr id="76901331" name="Shape 2"/>
          <p:cNvSpPr/>
          <p:nvPr/>
        </p:nvSpPr>
        <p:spPr bwMode="auto">
          <a:xfrm>
            <a:off x="587757" y="1059458"/>
            <a:ext cx="5456895" cy="5339655"/>
          </a:xfrm>
          <a:prstGeom prst="roundRect">
            <a:avLst>
              <a:gd name="adj" fmla="val 2763"/>
            </a:avLst>
          </a:prstGeom>
          <a:solidFill>
            <a:srgbClr val="10B981"/>
          </a:solidFill>
          <a:ln/>
        </p:spPr>
      </p:sp>
      <p:sp>
        <p:nvSpPr>
          <p:cNvPr id="1952744663" name="Text 3"/>
          <p:cNvSpPr/>
          <p:nvPr/>
        </p:nvSpPr>
        <p:spPr bwMode="auto">
          <a:xfrm>
            <a:off x="690148" y="1122859"/>
            <a:ext cx="5252112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000000"/>
                </a:solidFill>
                <a:latin typeface="Fraunces ExtraBold"/>
                <a:ea typeface="Fraunces ExtraBold"/>
                <a:cs typeface="Fraunces ExtraBold"/>
              </a:rPr>
              <a:t>The Challenge</a:t>
            </a:r>
            <a:endParaRPr lang="en-US" sz="1000"/>
          </a:p>
        </p:txBody>
      </p:sp>
      <p:sp>
        <p:nvSpPr>
          <p:cNvPr id="78466294" name="Text 4"/>
          <p:cNvSpPr/>
          <p:nvPr/>
        </p:nvSpPr>
        <p:spPr bwMode="auto">
          <a:xfrm>
            <a:off x="690148" y="1346299"/>
            <a:ext cx="5252112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fa-IR" sz="8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The inventory catalogue says </a:t>
            </a:r>
            <a:r>
              <a:rPr lang="fa-IR" sz="800" b="1">
                <a:solidFill>
                  <a:srgbClr val="000000"/>
                </a:solidFill>
                <a:latin typeface="Nobile Bold"/>
                <a:ea typeface="Nobile Bold"/>
                <a:cs typeface="Nobile Bold"/>
              </a:rPr>
              <a:t>"Mix Mithai"</a:t>
            </a:r>
            <a:r>
              <a:rPr lang="fa-IR" sz="8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 or </a:t>
            </a:r>
            <a:r>
              <a:rPr lang="fa-IR" sz="800" b="1">
                <a:solidFill>
                  <a:srgbClr val="000000"/>
                </a:solidFill>
                <a:latin typeface="Nobile Bold"/>
                <a:ea typeface="Nobile Bold"/>
                <a:cs typeface="Nobile Bold"/>
              </a:rPr>
              <a:t>"Rice"</a:t>
            </a:r>
            <a:r>
              <a:rPr lang="fa-IR" sz="8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. The merchant speaks </a:t>
            </a:r>
            <a:r>
              <a:rPr lang="fa-IR" sz="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"مکس مٹھائی"</a:t>
            </a:r>
            <a:r>
              <a:rPr lang="fa-IR" sz="8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 or types </a:t>
            </a:r>
            <a:r>
              <a:rPr lang="fa-IR" sz="800" b="1">
                <a:solidFill>
                  <a:srgbClr val="000000"/>
                </a:solidFill>
                <a:latin typeface="Nobile Bold"/>
                <a:ea typeface="Nobile Bold"/>
                <a:cs typeface="Nobile Bold"/>
              </a:rPr>
              <a:t>"chawal"</a:t>
            </a:r>
            <a:r>
              <a:rPr lang="fa-IR" sz="8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. Three different representations. One product. Generic NLP fails every time.</a:t>
            </a:r>
            <a:endParaRPr lang="fa-IR" sz="800"/>
          </a:p>
        </p:txBody>
      </p:sp>
      <p:sp>
        <p:nvSpPr>
          <p:cNvPr id="666244481" name="Shape 5"/>
          <p:cNvSpPr/>
          <p:nvPr/>
        </p:nvSpPr>
        <p:spPr bwMode="auto">
          <a:xfrm>
            <a:off x="690148" y="1708745"/>
            <a:ext cx="5252112" cy="127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048657001" name="Text 6"/>
          <p:cNvSpPr/>
          <p:nvPr/>
        </p:nvSpPr>
        <p:spPr bwMode="auto">
          <a:xfrm>
            <a:off x="690148" y="1818382"/>
            <a:ext cx="5252112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000000"/>
                </a:solidFill>
                <a:latin typeface="Fraunces ExtraBold"/>
                <a:ea typeface="Fraunces ExtraBold"/>
                <a:cs typeface="Fraunces ExtraBold"/>
              </a:rPr>
              <a:t>Real-World Misspellings VerbaTask Handles</a:t>
            </a:r>
            <a:endParaRPr lang="en-US" sz="1000"/>
          </a:p>
        </p:txBody>
      </p:sp>
      <p:sp>
        <p:nvSpPr>
          <p:cNvPr id="965295887" name="Text 7"/>
          <p:cNvSpPr/>
          <p:nvPr/>
        </p:nvSpPr>
        <p:spPr bwMode="auto">
          <a:xfrm>
            <a:off x="690148" y="2041823"/>
            <a:ext cx="5252112" cy="59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08000"/>
              </a:lnSpc>
              <a:buSzPct val="100000"/>
              <a:buChar char="•"/>
              <a:defRPr/>
            </a:pPr>
            <a:r>
              <a:rPr lang="en-US" sz="8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"sugr" → Sugar ✓</a:t>
            </a:r>
            <a:endParaRPr lang="en-US" sz="800"/>
          </a:p>
          <a:p>
            <a:pPr marL="162560" indent="-162560" algn="l">
              <a:lnSpc>
                <a:spcPct val="108000"/>
              </a:lnSpc>
              <a:buSzPct val="100000"/>
              <a:buChar char="•"/>
              <a:defRPr/>
            </a:pPr>
            <a:r>
              <a:rPr lang="en-US" sz="8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"cheni" → Sugar ✓</a:t>
            </a:r>
            <a:endParaRPr lang="en-US" sz="800"/>
          </a:p>
          <a:p>
            <a:pPr marL="162560" indent="-162560" algn="l">
              <a:lnSpc>
                <a:spcPct val="108000"/>
              </a:lnSpc>
              <a:buSzPct val="100000"/>
              <a:buChar char="•"/>
              <a:defRPr/>
            </a:pPr>
            <a:r>
              <a:rPr lang="en-US" sz="8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"oel" → Cooking Oil ✓</a:t>
            </a:r>
            <a:endParaRPr lang="en-US" sz="800"/>
          </a:p>
          <a:p>
            <a:pPr marL="162560" indent="-162560" algn="l">
              <a:lnSpc>
                <a:spcPct val="108000"/>
              </a:lnSpc>
              <a:buSzPct val="100000"/>
              <a:buChar char="•"/>
              <a:defRPr/>
            </a:pPr>
            <a:r>
              <a:rPr lang="en-US" sz="8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"chawal" → Rice ✓</a:t>
            </a:r>
            <a:endParaRPr lang="en-US" sz="800"/>
          </a:p>
        </p:txBody>
      </p:sp>
      <p:sp>
        <p:nvSpPr>
          <p:cNvPr id="113982767" name="Text 8"/>
          <p:cNvSpPr/>
          <p:nvPr/>
        </p:nvSpPr>
        <p:spPr bwMode="auto">
          <a:xfrm>
            <a:off x="6227111" y="1122859"/>
            <a:ext cx="5309459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Solution</a:t>
            </a:r>
            <a:endParaRPr lang="en-US" sz="1000"/>
          </a:p>
        </p:txBody>
      </p:sp>
      <p:sp>
        <p:nvSpPr>
          <p:cNvPr id="64517043" name="Text 9"/>
          <p:cNvSpPr/>
          <p:nvPr/>
        </p:nvSpPr>
        <p:spPr bwMode="auto">
          <a:xfrm>
            <a:off x="6227111" y="1346299"/>
            <a:ext cx="5309459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8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Custom bilingual dictionaries paired with </a:t>
            </a:r>
            <a:r>
              <a:rPr lang="en-US" sz="80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phonetic Levenshtein matching</a:t>
            </a:r>
            <a:r>
              <a:rPr lang="en-US" sz="8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 bridge Urdu script, Roman Urdu, and English stock lists seamlessly — with no merchant training required.</a:t>
            </a:r>
            <a:endParaRPr lang="en-US" sz="800"/>
          </a:p>
        </p:txBody>
      </p:sp>
      <p:sp>
        <p:nvSpPr>
          <p:cNvPr id="1350225050" name="Text 10"/>
          <p:cNvSpPr/>
          <p:nvPr/>
        </p:nvSpPr>
        <p:spPr bwMode="auto">
          <a:xfrm>
            <a:off x="8251619" y="2349103"/>
            <a:ext cx="1260245" cy="256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20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85%</a:t>
            </a:r>
            <a:endParaRPr lang="en-US" sz="2000"/>
          </a:p>
        </p:txBody>
      </p:sp>
      <p:pic>
        <p:nvPicPr>
          <p:cNvPr id="20051972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13311" y="1708745"/>
            <a:ext cx="1536959" cy="1536998"/>
          </a:xfrm>
          <a:prstGeom prst="rect">
            <a:avLst/>
          </a:prstGeom>
        </p:spPr>
      </p:pic>
      <p:sp>
        <p:nvSpPr>
          <p:cNvPr id="1218967671" name="Text 11"/>
          <p:cNvSpPr/>
          <p:nvPr/>
        </p:nvSpPr>
        <p:spPr bwMode="auto">
          <a:xfrm>
            <a:off x="6227111" y="3334742"/>
            <a:ext cx="5309459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Match Confidence</a:t>
            </a:r>
            <a:endParaRPr lang="en-US" sz="1000"/>
          </a:p>
        </p:txBody>
      </p:sp>
      <p:sp>
        <p:nvSpPr>
          <p:cNvPr id="1196960862" name="Text 12"/>
          <p:cNvSpPr/>
          <p:nvPr/>
        </p:nvSpPr>
        <p:spPr bwMode="auto">
          <a:xfrm>
            <a:off x="6227111" y="3558182"/>
            <a:ext cx="5309459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  <a:defRPr/>
            </a:pPr>
            <a:r>
              <a:rPr lang="en-US" sz="8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Even on street misspellings and phonetic approximations of product names.</a:t>
            </a:r>
            <a:endParaRPr lang="en-US" sz="800"/>
          </a:p>
        </p:txBody>
      </p:sp>
      <p:sp>
        <p:nvSpPr>
          <p:cNvPr id="328541366" name="Text 13"/>
          <p:cNvSpPr/>
          <p:nvPr/>
        </p:nvSpPr>
        <p:spPr bwMode="auto">
          <a:xfrm>
            <a:off x="8251619" y="4483795"/>
            <a:ext cx="1260245" cy="256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20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3x</a:t>
            </a:r>
            <a:endParaRPr lang="en-US" sz="2000"/>
          </a:p>
        </p:txBody>
      </p:sp>
      <p:pic>
        <p:nvPicPr>
          <p:cNvPr id="176983308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113311" y="3843437"/>
            <a:ext cx="1536959" cy="1536998"/>
          </a:xfrm>
          <a:prstGeom prst="rect">
            <a:avLst/>
          </a:prstGeom>
        </p:spPr>
      </p:pic>
      <p:sp>
        <p:nvSpPr>
          <p:cNvPr id="1083145735" name="Text 14"/>
          <p:cNvSpPr/>
          <p:nvPr/>
        </p:nvSpPr>
        <p:spPr bwMode="auto">
          <a:xfrm>
            <a:off x="6227111" y="5469434"/>
            <a:ext cx="5309459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Script Coverage</a:t>
            </a:r>
            <a:endParaRPr lang="en-US" sz="1000"/>
          </a:p>
        </p:txBody>
      </p:sp>
      <p:sp>
        <p:nvSpPr>
          <p:cNvPr id="185745095" name="Text 15"/>
          <p:cNvSpPr/>
          <p:nvPr/>
        </p:nvSpPr>
        <p:spPr bwMode="auto">
          <a:xfrm>
            <a:off x="6227111" y="5692874"/>
            <a:ext cx="5309459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  <a:defRPr/>
            </a:pPr>
            <a:r>
              <a:rPr lang="en-US" sz="8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Urdu script, Roman Urdu, and English — all resolved to the same inventory item.</a:t>
            </a:r>
            <a:endParaRPr lang="en-US" sz="800"/>
          </a:p>
        </p:txBody>
      </p:sp>
      <p:sp>
        <p:nvSpPr>
          <p:cNvPr id="1130612547" name="Shape 16"/>
          <p:cNvSpPr/>
          <p:nvPr/>
        </p:nvSpPr>
        <p:spPr bwMode="auto">
          <a:xfrm>
            <a:off x="6227111" y="5896967"/>
            <a:ext cx="5309459" cy="430808"/>
          </a:xfrm>
          <a:prstGeom prst="roundRect">
            <a:avLst>
              <a:gd name="adj" fmla="val 21406"/>
            </a:avLst>
          </a:prstGeom>
          <a:solidFill>
            <a:srgbClr val="B6FCB8"/>
          </a:solidFill>
          <a:ln/>
        </p:spPr>
      </p:sp>
      <p:pic>
        <p:nvPicPr>
          <p:cNvPr id="487271008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329502" y="5985966"/>
            <a:ext cx="127989" cy="102394"/>
          </a:xfrm>
          <a:prstGeom prst="rect">
            <a:avLst/>
          </a:prstGeom>
        </p:spPr>
      </p:pic>
      <p:sp>
        <p:nvSpPr>
          <p:cNvPr id="970445938" name="Text 17"/>
          <p:cNvSpPr/>
          <p:nvPr/>
        </p:nvSpPr>
        <p:spPr bwMode="auto">
          <a:xfrm>
            <a:off x="6559882" y="5979616"/>
            <a:ext cx="4874297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8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Illiteracy-forgiving by design — the system meets the merchant where they are, not where a textbook says they should be.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756417" name="Shape 0"/>
          <p:cNvSpPr/>
          <p:nvPr/>
        </p:nvSpPr>
        <p:spPr bwMode="auto">
          <a:xfrm flipH="0" flipV="0">
            <a:off x="8030535" y="0"/>
            <a:ext cx="4161159" cy="6858000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078497312" name="Text 1"/>
          <p:cNvSpPr/>
          <p:nvPr/>
        </p:nvSpPr>
        <p:spPr bwMode="auto">
          <a:xfrm>
            <a:off x="661475" y="1686223"/>
            <a:ext cx="629686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GUIDED FLOW &amp; ZERO-TYPING CHECKOUT</a:t>
            </a:r>
            <a:endParaRPr lang="en-US" sz="1350"/>
          </a:p>
        </p:txBody>
      </p:sp>
      <p:sp>
        <p:nvSpPr>
          <p:cNvPr id="614984192" name="Text 2"/>
          <p:cNvSpPr/>
          <p:nvPr/>
        </p:nvSpPr>
        <p:spPr bwMode="auto">
          <a:xfrm>
            <a:off x="661475" y="1953518"/>
            <a:ext cx="6296860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Tapping Instead of Talking</a:t>
            </a:r>
            <a:endParaRPr lang="en-US" sz="2750"/>
          </a:p>
        </p:txBody>
      </p:sp>
      <p:sp>
        <p:nvSpPr>
          <p:cNvPr id="113418147" name="Shape 3"/>
          <p:cNvSpPr/>
          <p:nvPr/>
        </p:nvSpPr>
        <p:spPr bwMode="auto">
          <a:xfrm>
            <a:off x="661475" y="2646561"/>
            <a:ext cx="70245" cy="70247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1293913834" name="Text 4"/>
          <p:cNvSpPr/>
          <p:nvPr/>
        </p:nvSpPr>
        <p:spPr bwMode="auto">
          <a:xfrm>
            <a:off x="851176" y="2571948"/>
            <a:ext cx="610715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Guided Order Menus</a:t>
            </a:r>
            <a:endParaRPr lang="en-US" sz="1350"/>
          </a:p>
        </p:txBody>
      </p:sp>
      <p:sp>
        <p:nvSpPr>
          <p:cNvPr id="2138764010" name="Text 5"/>
          <p:cNvSpPr/>
          <p:nvPr/>
        </p:nvSpPr>
        <p:spPr bwMode="auto">
          <a:xfrm>
            <a:off x="851176" y="2863155"/>
            <a:ext cx="610715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Merchants who prefer quiet environments can type "order" to trigger interactive, pageable WhatsApp stock lists.</a:t>
            </a:r>
            <a:endParaRPr lang="en-US" sz="1100"/>
          </a:p>
        </p:txBody>
      </p:sp>
      <p:sp>
        <p:nvSpPr>
          <p:cNvPr id="1624183291" name="Shape 6"/>
          <p:cNvSpPr/>
          <p:nvPr/>
        </p:nvSpPr>
        <p:spPr bwMode="auto">
          <a:xfrm>
            <a:off x="661475" y="3592810"/>
            <a:ext cx="70245" cy="70247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762500449" name="Text 7"/>
          <p:cNvSpPr/>
          <p:nvPr/>
        </p:nvSpPr>
        <p:spPr bwMode="auto">
          <a:xfrm>
            <a:off x="851176" y="3518198"/>
            <a:ext cx="610715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Instant Payment Pickers</a:t>
            </a:r>
            <a:endParaRPr lang="en-US" sz="1350"/>
          </a:p>
        </p:txBody>
      </p:sp>
      <p:sp>
        <p:nvSpPr>
          <p:cNvPr id="364423312" name="Text 8"/>
          <p:cNvSpPr/>
          <p:nvPr/>
        </p:nvSpPr>
        <p:spPr bwMode="auto">
          <a:xfrm>
            <a:off x="851176" y="3809405"/>
            <a:ext cx="610715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Interactive quick-action buttons for Cash, EasyPaisa, and JazzCash finalize sales in one tap.</a:t>
            </a:r>
            <a:endParaRPr lang="en-US" sz="1100"/>
          </a:p>
        </p:txBody>
      </p:sp>
      <p:sp>
        <p:nvSpPr>
          <p:cNvPr id="367745761" name="Shape 9"/>
          <p:cNvSpPr/>
          <p:nvPr/>
        </p:nvSpPr>
        <p:spPr bwMode="auto">
          <a:xfrm>
            <a:off x="661475" y="4539059"/>
            <a:ext cx="70245" cy="70247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1871764911" name="Text 10"/>
          <p:cNvSpPr/>
          <p:nvPr/>
        </p:nvSpPr>
        <p:spPr bwMode="auto">
          <a:xfrm>
            <a:off x="851176" y="4464447"/>
            <a:ext cx="610715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Fault-Tolerant State</a:t>
            </a:r>
            <a:endParaRPr lang="en-US" sz="1350"/>
          </a:p>
        </p:txBody>
      </p:sp>
      <p:sp>
        <p:nvSpPr>
          <p:cNvPr id="1137287268" name="Text 11"/>
          <p:cNvSpPr/>
          <p:nvPr/>
        </p:nvSpPr>
        <p:spPr bwMode="auto">
          <a:xfrm>
            <a:off x="851176" y="4755654"/>
            <a:ext cx="610715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Atomic database updates guarantee that spotty 3G cellular connections never trap the merchant in broken loops.</a:t>
            </a:r>
            <a:endParaRPr lang="en-US" sz="1100"/>
          </a:p>
        </p:txBody>
      </p:sp>
      <p:pic>
        <p:nvPicPr>
          <p:cNvPr id="3576238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030535" y="0"/>
            <a:ext cx="416115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939169" name="Text 0"/>
          <p:cNvSpPr/>
          <p:nvPr/>
        </p:nvSpPr>
        <p:spPr bwMode="auto">
          <a:xfrm>
            <a:off x="661475" y="1479153"/>
            <a:ext cx="10868745" cy="232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STRATEGIC ROADMAP</a:t>
            </a:r>
            <a:endParaRPr lang="en-US" sz="1450"/>
          </a:p>
        </p:txBody>
      </p:sp>
      <p:sp>
        <p:nvSpPr>
          <p:cNvPr id="1719191408" name="Text 1"/>
          <p:cNvSpPr/>
          <p:nvPr/>
        </p:nvSpPr>
        <p:spPr bwMode="auto">
          <a:xfrm>
            <a:off x="661475" y="1765201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What Comes Next</a:t>
            </a:r>
            <a:endParaRPr lang="en-US" sz="2900"/>
          </a:p>
        </p:txBody>
      </p:sp>
      <p:sp>
        <p:nvSpPr>
          <p:cNvPr id="1555501801" name="Shape 2"/>
          <p:cNvSpPr/>
          <p:nvPr/>
        </p:nvSpPr>
        <p:spPr bwMode="auto">
          <a:xfrm>
            <a:off x="661475" y="401816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0BB94C"/>
          </a:solidFill>
          <a:ln/>
        </p:spPr>
      </p:sp>
      <p:sp>
        <p:nvSpPr>
          <p:cNvPr id="1404822819" name="Shape 3"/>
          <p:cNvSpPr/>
          <p:nvPr/>
        </p:nvSpPr>
        <p:spPr bwMode="auto">
          <a:xfrm>
            <a:off x="3327118" y="3571726"/>
            <a:ext cx="19050" cy="446484"/>
          </a:xfrm>
          <a:prstGeom prst="roundRect">
            <a:avLst>
              <a:gd name="adj" fmla="val 49999"/>
            </a:avLst>
          </a:prstGeom>
          <a:solidFill>
            <a:srgbClr val="0BB94C"/>
          </a:solidFill>
          <a:ln/>
        </p:spPr>
      </p:sp>
      <p:sp>
        <p:nvSpPr>
          <p:cNvPr id="76889375" name="Shape 4"/>
          <p:cNvSpPr/>
          <p:nvPr/>
        </p:nvSpPr>
        <p:spPr bwMode="auto">
          <a:xfrm>
            <a:off x="3169265" y="3850729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25D366"/>
          </a:solidFill>
          <a:ln/>
        </p:spPr>
      </p:sp>
      <p:sp>
        <p:nvSpPr>
          <p:cNvPr id="797612504" name="Text 5"/>
          <p:cNvSpPr/>
          <p:nvPr/>
        </p:nvSpPr>
        <p:spPr bwMode="auto">
          <a:xfrm>
            <a:off x="3225025" y="387856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750">
                <a:solidFill>
                  <a:srgbClr val="000000"/>
                </a:solidFill>
                <a:latin typeface="Fraunces ExtraBold"/>
                <a:ea typeface="Fraunces ExtraBold"/>
                <a:cs typeface="Fraunces ExtraBold"/>
              </a:rPr>
              <a:t>1</a:t>
            </a:r>
            <a:endParaRPr lang="en-US" sz="1750"/>
          </a:p>
        </p:txBody>
      </p:sp>
      <p:sp>
        <p:nvSpPr>
          <p:cNvPr id="342520550" name="Text 6"/>
          <p:cNvSpPr/>
          <p:nvPr/>
        </p:nvSpPr>
        <p:spPr bwMode="auto">
          <a:xfrm>
            <a:off x="810299" y="2431256"/>
            <a:ext cx="5052985" cy="232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4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Phase 1</a:t>
            </a:r>
            <a:endParaRPr lang="en-US" sz="1450"/>
          </a:p>
        </p:txBody>
      </p:sp>
      <p:sp>
        <p:nvSpPr>
          <p:cNvPr id="1837446599" name="Text 7"/>
          <p:cNvSpPr/>
          <p:nvPr/>
        </p:nvSpPr>
        <p:spPr bwMode="auto">
          <a:xfrm>
            <a:off x="810299" y="2744093"/>
            <a:ext cx="505298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  <a:defRPr/>
            </a:pPr>
            <a:r>
              <a:rPr lang="en-US" sz="115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Live Today</a:t>
            </a:r>
            <a:r>
              <a:rPr lang="en-US" sz="115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: WhatsApp voice sales logging, live inventory decrements, instant PDF audit reports, and cross-lingual NLP.</a:t>
            </a:r>
            <a:endParaRPr lang="en-US" sz="1150"/>
          </a:p>
        </p:txBody>
      </p:sp>
      <p:sp>
        <p:nvSpPr>
          <p:cNvPr id="1872854923" name="Shape 8"/>
          <p:cNvSpPr/>
          <p:nvPr/>
        </p:nvSpPr>
        <p:spPr bwMode="auto">
          <a:xfrm>
            <a:off x="6086124" y="4018111"/>
            <a:ext cx="19050" cy="446484"/>
          </a:xfrm>
          <a:prstGeom prst="roundRect">
            <a:avLst>
              <a:gd name="adj" fmla="val 49999"/>
            </a:avLst>
          </a:prstGeom>
          <a:solidFill>
            <a:srgbClr val="0BB94C"/>
          </a:solidFill>
          <a:ln/>
        </p:spPr>
      </p:sp>
      <p:sp>
        <p:nvSpPr>
          <p:cNvPr id="2031851839" name="Shape 9"/>
          <p:cNvSpPr/>
          <p:nvPr/>
        </p:nvSpPr>
        <p:spPr bwMode="auto">
          <a:xfrm>
            <a:off x="5928271" y="3850729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25D366"/>
          </a:solidFill>
          <a:ln/>
        </p:spPr>
      </p:sp>
      <p:sp>
        <p:nvSpPr>
          <p:cNvPr id="417280429" name="Text 10"/>
          <p:cNvSpPr/>
          <p:nvPr/>
        </p:nvSpPr>
        <p:spPr bwMode="auto">
          <a:xfrm>
            <a:off x="5984031" y="387856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750">
                <a:solidFill>
                  <a:srgbClr val="000000"/>
                </a:solidFill>
                <a:latin typeface="Fraunces ExtraBold"/>
                <a:ea typeface="Fraunces ExtraBold"/>
                <a:cs typeface="Fraunces ExtraBold"/>
              </a:rPr>
              <a:t>2</a:t>
            </a:r>
            <a:endParaRPr lang="en-US" sz="1750"/>
          </a:p>
        </p:txBody>
      </p:sp>
      <p:sp>
        <p:nvSpPr>
          <p:cNvPr id="1768172623" name="Text 11"/>
          <p:cNvSpPr/>
          <p:nvPr/>
        </p:nvSpPr>
        <p:spPr bwMode="auto">
          <a:xfrm>
            <a:off x="3569305" y="4613573"/>
            <a:ext cx="5052985" cy="232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4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Phase 2</a:t>
            </a:r>
            <a:endParaRPr lang="en-US" sz="1450"/>
          </a:p>
        </p:txBody>
      </p:sp>
      <p:sp>
        <p:nvSpPr>
          <p:cNvPr id="1789613440" name="Text 12"/>
          <p:cNvSpPr/>
          <p:nvPr/>
        </p:nvSpPr>
        <p:spPr bwMode="auto">
          <a:xfrm>
            <a:off x="3569305" y="4926409"/>
            <a:ext cx="505298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  <a:defRPr/>
            </a:pPr>
            <a:r>
              <a:rPr lang="en-US" sz="115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Q3 2026</a:t>
            </a:r>
            <a:r>
              <a:rPr lang="en-US" sz="115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: Bluetooth portable thermal receipt printing directly from WhatsApp, plus phone camera carton barcode scanning.</a:t>
            </a:r>
            <a:endParaRPr lang="en-US" sz="1150"/>
          </a:p>
        </p:txBody>
      </p:sp>
      <p:sp>
        <p:nvSpPr>
          <p:cNvPr id="1285920891" name="Shape 13"/>
          <p:cNvSpPr/>
          <p:nvPr/>
        </p:nvSpPr>
        <p:spPr bwMode="auto">
          <a:xfrm>
            <a:off x="8845229" y="3571726"/>
            <a:ext cx="19050" cy="446484"/>
          </a:xfrm>
          <a:prstGeom prst="roundRect">
            <a:avLst>
              <a:gd name="adj" fmla="val 49999"/>
            </a:avLst>
          </a:prstGeom>
          <a:solidFill>
            <a:srgbClr val="0BB94C"/>
          </a:solidFill>
          <a:ln/>
        </p:spPr>
      </p:sp>
      <p:sp>
        <p:nvSpPr>
          <p:cNvPr id="74180435" name="Shape 14"/>
          <p:cNvSpPr/>
          <p:nvPr/>
        </p:nvSpPr>
        <p:spPr bwMode="auto">
          <a:xfrm>
            <a:off x="8687376" y="3850729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25D366"/>
          </a:solidFill>
          <a:ln/>
        </p:spPr>
      </p:sp>
      <p:sp>
        <p:nvSpPr>
          <p:cNvPr id="318158604" name="Text 15"/>
          <p:cNvSpPr/>
          <p:nvPr/>
        </p:nvSpPr>
        <p:spPr bwMode="auto">
          <a:xfrm>
            <a:off x="8743136" y="387856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750">
                <a:solidFill>
                  <a:srgbClr val="000000"/>
                </a:solidFill>
                <a:latin typeface="Fraunces ExtraBold"/>
                <a:ea typeface="Fraunces ExtraBold"/>
                <a:cs typeface="Fraunces ExtraBold"/>
              </a:rPr>
              <a:t>3</a:t>
            </a:r>
            <a:endParaRPr lang="en-US" sz="1750"/>
          </a:p>
        </p:txBody>
      </p:sp>
      <p:sp>
        <p:nvSpPr>
          <p:cNvPr id="595758363" name="Text 16"/>
          <p:cNvSpPr/>
          <p:nvPr/>
        </p:nvSpPr>
        <p:spPr bwMode="auto">
          <a:xfrm>
            <a:off x="6328311" y="2431256"/>
            <a:ext cx="5053085" cy="232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4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Phase 3</a:t>
            </a:r>
            <a:endParaRPr lang="en-US" sz="1450"/>
          </a:p>
        </p:txBody>
      </p:sp>
      <p:sp>
        <p:nvSpPr>
          <p:cNvPr id="211160001" name="Text 17"/>
          <p:cNvSpPr/>
          <p:nvPr/>
        </p:nvSpPr>
        <p:spPr bwMode="auto">
          <a:xfrm>
            <a:off x="6328311" y="2744093"/>
            <a:ext cx="5053085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  <a:defRPr/>
            </a:pPr>
            <a:r>
              <a:rPr lang="en-US" sz="1150" b="1">
                <a:solidFill>
                  <a:srgbClr val="405449"/>
                </a:solidFill>
                <a:latin typeface="Nobile Bold"/>
                <a:ea typeface="Nobile Bold"/>
                <a:cs typeface="Nobile Bold"/>
              </a:rPr>
              <a:t>Q4 2026</a:t>
            </a:r>
            <a:r>
              <a:rPr lang="en-US" sz="115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: Autonomous B2B replenishment—the AI automatically messages FMCG distributors when store inventory drops below minimum levels.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151877" name="Text 0"/>
          <p:cNvSpPr/>
          <p:nvPr/>
        </p:nvSpPr>
        <p:spPr bwMode="auto">
          <a:xfrm>
            <a:off x="661475" y="486271"/>
            <a:ext cx="1086874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BUSINESS MODEL &amp; MONETIZATION</a:t>
            </a:r>
            <a:endParaRPr lang="en-US" sz="1250"/>
          </a:p>
        </p:txBody>
      </p:sp>
      <p:sp>
        <p:nvSpPr>
          <p:cNvPr id="2041971086" name="Text 1"/>
          <p:cNvSpPr/>
          <p:nvPr/>
        </p:nvSpPr>
        <p:spPr bwMode="auto">
          <a:xfrm>
            <a:off x="661475" y="734120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5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Pricing &amp; Accessibility</a:t>
            </a:r>
            <a:endParaRPr lang="en-US" sz="2550"/>
          </a:p>
        </p:txBody>
      </p:sp>
      <p:sp>
        <p:nvSpPr>
          <p:cNvPr id="1402116670" name="Text 2"/>
          <p:cNvSpPr/>
          <p:nvPr/>
        </p:nvSpPr>
        <p:spPr bwMode="auto">
          <a:xfrm>
            <a:off x="661475" y="1303437"/>
            <a:ext cx="1147832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100% Free Forever for Every Retailer.</a:t>
            </a:r>
            <a:endParaRPr lang="en-US" sz="1000"/>
          </a:p>
        </p:txBody>
      </p:sp>
      <p:sp>
        <p:nvSpPr>
          <p:cNvPr id="764947954" name="Shape 3"/>
          <p:cNvSpPr/>
          <p:nvPr/>
        </p:nvSpPr>
        <p:spPr bwMode="auto">
          <a:xfrm>
            <a:off x="661475" y="1610916"/>
            <a:ext cx="10868745" cy="2020390"/>
          </a:xfrm>
          <a:prstGeom prst="roundRect">
            <a:avLst>
              <a:gd name="adj" fmla="val 5871"/>
            </a:avLst>
          </a:prstGeom>
          <a:solidFill>
            <a:srgbClr val="25D366"/>
          </a:solidFill>
          <a:ln/>
        </p:spPr>
      </p:sp>
      <p:sp>
        <p:nvSpPr>
          <p:cNvPr id="713963633" name="Text 4"/>
          <p:cNvSpPr/>
          <p:nvPr/>
        </p:nvSpPr>
        <p:spPr bwMode="auto">
          <a:xfrm>
            <a:off x="793234" y="1742678"/>
            <a:ext cx="10605227" cy="1235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7750">
                <a:solidFill>
                  <a:srgbClr val="000000"/>
                </a:solidFill>
                <a:latin typeface="Fraunces ExtraBold"/>
                <a:ea typeface="Fraunces ExtraBold"/>
                <a:cs typeface="Fraunces ExtraBold"/>
              </a:rPr>
              <a:t>PKR 0 / Month</a:t>
            </a:r>
            <a:endParaRPr lang="en-US" sz="7750"/>
          </a:p>
        </p:txBody>
      </p:sp>
      <p:sp>
        <p:nvSpPr>
          <p:cNvPr id="193278307" name="Text 5"/>
          <p:cNvSpPr/>
          <p:nvPr/>
        </p:nvSpPr>
        <p:spPr bwMode="auto">
          <a:xfrm>
            <a:off x="793234" y="3041252"/>
            <a:ext cx="1060522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000000"/>
                </a:solidFill>
                <a:latin typeface="Fraunces ExtraBold"/>
                <a:ea typeface="Fraunces ExtraBold"/>
                <a:cs typeface="Fraunces ExtraBold"/>
              </a:rPr>
              <a:t>Free Forever</a:t>
            </a:r>
            <a:endParaRPr lang="en-US" sz="1250"/>
          </a:p>
        </p:txBody>
      </p:sp>
      <p:sp>
        <p:nvSpPr>
          <p:cNvPr id="886584666" name="Text 6"/>
          <p:cNvSpPr/>
          <p:nvPr/>
        </p:nvSpPr>
        <p:spPr bwMode="auto">
          <a:xfrm>
            <a:off x="793234" y="3310136"/>
            <a:ext cx="10605227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0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Community Retail Tier — Zero Subscription. Zero Hidden Fees. Zero Barrier.</a:t>
            </a:r>
            <a:endParaRPr lang="en-US" sz="1000"/>
          </a:p>
        </p:txBody>
      </p:sp>
      <p:sp>
        <p:nvSpPr>
          <p:cNvPr id="1863134435" name="Text 7"/>
          <p:cNvSpPr/>
          <p:nvPr/>
        </p:nvSpPr>
        <p:spPr bwMode="auto">
          <a:xfrm>
            <a:off x="661475" y="3788767"/>
            <a:ext cx="1086874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✦ Everything Included for Free:</a:t>
            </a:r>
            <a:endParaRPr lang="en-US" sz="1250"/>
          </a:p>
        </p:txBody>
      </p:sp>
      <p:sp>
        <p:nvSpPr>
          <p:cNvPr id="1493086465" name="Text 8"/>
          <p:cNvSpPr/>
          <p:nvPr/>
        </p:nvSpPr>
        <p:spPr bwMode="auto">
          <a:xfrm>
            <a:off x="661475" y="4152106"/>
            <a:ext cx="10868745" cy="1093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Unlimited Voice Commerce: Speak naturally in colloquial Urdu, Roman Urdu, or English to record sales in under 2 seconds.</a:t>
            </a:r>
            <a:endParaRPr lang="en-US" sz="1000"/>
          </a:p>
          <a:p>
            <a:pPr marL="203200" indent="-2032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Autonomous Stock Tracking: Real-time inventory deduction with instant WhatsApp alerts before items run out of stock or expire.</a:t>
            </a:r>
            <a:endParaRPr lang="en-US" sz="1000"/>
          </a:p>
          <a:p>
            <a:pPr marL="203200" indent="-2032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Pakistani Payment Reconciliation: Track Cash, EasyPaisa, JazzCash, Raast, SadaPay, NayaPay, and bank transfers without manual math.</a:t>
            </a:r>
            <a:endParaRPr lang="en-US" sz="1000"/>
          </a:p>
          <a:p>
            <a:pPr marL="203200" indent="-2032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Instant WhatsApp PDF Audits: Download comprehensive, audit-ready daily sales ledgers and inventory summaries directly inside your chat.</a:t>
            </a:r>
            <a:endParaRPr lang="en-US" sz="1000"/>
          </a:p>
          <a:p>
            <a:pPr marL="203200" indent="-2032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Live Web Dashboard: Instant WebSocket synchronization with full desktop and mobile access in Obsidian Dark and Crisp Light modes.</a:t>
            </a:r>
            <a:endParaRPr lang="en-US" sz="1000"/>
          </a:p>
        </p:txBody>
      </p:sp>
      <p:sp>
        <p:nvSpPr>
          <p:cNvPr id="1641854881" name="Text 9"/>
          <p:cNvSpPr/>
          <p:nvPr/>
        </p:nvSpPr>
        <p:spPr bwMode="auto">
          <a:xfrm>
            <a:off x="661475" y="5403452"/>
            <a:ext cx="1086874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✦ Why It Costs PKR 0:</a:t>
            </a:r>
            <a:endParaRPr lang="en-US" sz="1250"/>
          </a:p>
        </p:txBody>
      </p:sp>
      <p:sp>
        <p:nvSpPr>
          <p:cNvPr id="2051529985" name="Text 10"/>
          <p:cNvSpPr/>
          <p:nvPr/>
        </p:nvSpPr>
        <p:spPr bwMode="auto">
          <a:xfrm>
            <a:off x="661475" y="5766792"/>
            <a:ext cx="10868745" cy="60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Zero Cost to Dukaandars: Designed specifically for micro-retailers who cannot afford expensive software licenses.</a:t>
            </a:r>
            <a:endParaRPr lang="en-US" sz="1000"/>
          </a:p>
          <a:p>
            <a:pPr marL="203200" indent="-2032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Built on Scalable Free Rails: Leverages Meta's free WhatsApp conversation quota and lightweight, sub-second AI inference so the platform stays free, sustainable, and accessible to Main Street merchants.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303264" name="Text 0"/>
          <p:cNvSpPr/>
          <p:nvPr/>
        </p:nvSpPr>
        <p:spPr bwMode="auto">
          <a:xfrm>
            <a:off x="661475" y="454819"/>
            <a:ext cx="1086874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8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MARKET OPPORTUNITY</a:t>
            </a:r>
            <a:endParaRPr lang="en-US" sz="800"/>
          </a:p>
        </p:txBody>
      </p:sp>
      <p:sp>
        <p:nvSpPr>
          <p:cNvPr id="1092524951" name="Text 1"/>
          <p:cNvSpPr/>
          <p:nvPr/>
        </p:nvSpPr>
        <p:spPr bwMode="auto">
          <a:xfrm>
            <a:off x="661475" y="600471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Digitizing 2.2 Million Retailers</a:t>
            </a:r>
            <a:endParaRPr lang="en-US" sz="1600"/>
          </a:p>
        </p:txBody>
      </p:sp>
      <p:pic>
        <p:nvPicPr>
          <p:cNvPr id="168768031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61475" y="920947"/>
            <a:ext cx="9753356" cy="5486400"/>
          </a:xfrm>
          <a:prstGeom prst="rect">
            <a:avLst/>
          </a:prstGeom>
        </p:spPr>
      </p:pic>
      <p:sp>
        <p:nvSpPr>
          <p:cNvPr id="1782114899" name="Text 2"/>
          <p:cNvSpPr/>
          <p:nvPr/>
        </p:nvSpPr>
        <p:spPr bwMode="auto">
          <a:xfrm>
            <a:off x="661475" y="6469360"/>
            <a:ext cx="1086874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8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Initial Target (SOM)</a:t>
            </a:r>
            <a:endParaRPr lang="en-US" sz="800"/>
          </a:p>
        </p:txBody>
      </p:sp>
      <p:sp>
        <p:nvSpPr>
          <p:cNvPr id="1544047560" name="Text 3"/>
          <p:cNvSpPr/>
          <p:nvPr/>
        </p:nvSpPr>
        <p:spPr bwMode="auto">
          <a:xfrm>
            <a:off x="661475" y="6660554"/>
            <a:ext cx="1147832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65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10,000 FMCG and neighborhood kiryana shops acquired through wholesale distributor partnerships and merchant referrals.</a:t>
            </a:r>
            <a:endParaRPr lang="en-US" sz="650"/>
          </a:p>
        </p:txBody>
      </p:sp>
      <p:sp>
        <p:nvSpPr>
          <p:cNvPr id="2128425162" name="Text 4"/>
          <p:cNvSpPr/>
          <p:nvPr/>
        </p:nvSpPr>
        <p:spPr bwMode="auto">
          <a:xfrm>
            <a:off x="661475" y="6821686"/>
            <a:ext cx="1086874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8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Serviceable Addressable Market (SAM)</a:t>
            </a:r>
            <a:endParaRPr lang="en-US" sz="800"/>
          </a:p>
        </p:txBody>
      </p:sp>
      <p:sp>
        <p:nvSpPr>
          <p:cNvPr id="2137491833" name="Text 5"/>
          <p:cNvSpPr/>
          <p:nvPr/>
        </p:nvSpPr>
        <p:spPr bwMode="auto">
          <a:xfrm>
            <a:off x="661475" y="7012880"/>
            <a:ext cx="1147832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65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850,000+ smartphone-owning dukaandars in Tier 1 and Tier 2 cities (Lahore, Karachi, Rawalpindi, Faisalabad, Multan).</a:t>
            </a:r>
            <a:endParaRPr lang="en-US" sz="650"/>
          </a:p>
        </p:txBody>
      </p:sp>
      <p:sp>
        <p:nvSpPr>
          <p:cNvPr id="881719115" name="Text 6"/>
          <p:cNvSpPr/>
          <p:nvPr/>
        </p:nvSpPr>
        <p:spPr bwMode="auto">
          <a:xfrm>
            <a:off x="661475" y="7174012"/>
            <a:ext cx="1086874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8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Total Addressable Market (TAM)</a:t>
            </a:r>
            <a:endParaRPr lang="en-US" sz="800"/>
          </a:p>
        </p:txBody>
      </p:sp>
      <p:sp>
        <p:nvSpPr>
          <p:cNvPr id="2001808818" name="Text 7"/>
          <p:cNvSpPr/>
          <p:nvPr/>
        </p:nvSpPr>
        <p:spPr bwMode="auto">
          <a:xfrm>
            <a:off x="661475" y="7365206"/>
            <a:ext cx="1147832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65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2.2 Million small and micro retail stores across Pakistan.</a:t>
            </a:r>
            <a:endParaRPr lang="en-US" sz="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001310" name="Text 0"/>
          <p:cNvSpPr/>
          <p:nvPr/>
        </p:nvSpPr>
        <p:spPr bwMode="auto">
          <a:xfrm>
            <a:off x="661475" y="945753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BUILT FOR PAKISTANI COMMERCE &amp; BANKING</a:t>
            </a:r>
            <a:endParaRPr lang="en-US" sz="1600"/>
          </a:p>
        </p:txBody>
      </p:sp>
      <p:sp>
        <p:nvSpPr>
          <p:cNvPr id="1945338914" name="Text 1"/>
          <p:cNvSpPr/>
          <p:nvPr/>
        </p:nvSpPr>
        <p:spPr bwMode="auto">
          <a:xfrm>
            <a:off x="661475" y="127029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Native Integration with Local Financial Rails</a:t>
            </a:r>
            <a:endParaRPr lang="en-US" sz="3250"/>
          </a:p>
        </p:txBody>
      </p:sp>
      <p:sp>
        <p:nvSpPr>
          <p:cNvPr id="1430412396" name="Text 2"/>
          <p:cNvSpPr/>
          <p:nvPr/>
        </p:nvSpPr>
        <p:spPr bwMode="auto">
          <a:xfrm>
            <a:off x="661475" y="2035076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VerbaTask is designed from the ground up to seamlessly integrate with Pakistan's unique commercial and banking ecosystem, ensuring full compatibility and easy reconciliation for merchants.</a:t>
            </a:r>
            <a:endParaRPr lang="en-US" sz="1300"/>
          </a:p>
        </p:txBody>
      </p:sp>
      <p:pic>
        <p:nvPicPr>
          <p:cNvPr id="192651250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61475" y="2750344"/>
            <a:ext cx="3512653" cy="2049463"/>
          </a:xfrm>
          <a:prstGeom prst="rect">
            <a:avLst/>
          </a:prstGeom>
        </p:spPr>
      </p:pic>
      <p:sp>
        <p:nvSpPr>
          <p:cNvPr id="1510524877" name="Text 3"/>
          <p:cNvSpPr/>
          <p:nvPr/>
        </p:nvSpPr>
        <p:spPr bwMode="auto">
          <a:xfrm>
            <a:off x="922017" y="293469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Complete Payment Spectrum</a:t>
            </a:r>
            <a:endParaRPr lang="en-US" sz="1600"/>
          </a:p>
        </p:txBody>
      </p:sp>
      <p:sp>
        <p:nvSpPr>
          <p:cNvPr id="82442864" name="Text 4"/>
          <p:cNvSpPr/>
          <p:nvPr/>
        </p:nvSpPr>
        <p:spPr bwMode="auto">
          <a:xfrm>
            <a:off x="922017" y="3292376"/>
            <a:ext cx="3067767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Native reconciliation for Cash, Mobile Wallets (EasyPaisa, JazzCash), EMIs (SadaPay, NayaPay, Raast), and Commercial/Islamic Banks (Meezan, HBL).</a:t>
            </a:r>
            <a:endParaRPr lang="en-US" sz="1300"/>
          </a:p>
        </p:txBody>
      </p:sp>
      <p:pic>
        <p:nvPicPr>
          <p:cNvPr id="205015032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39422" y="2750344"/>
            <a:ext cx="3512752" cy="2049463"/>
          </a:xfrm>
          <a:prstGeom prst="rect">
            <a:avLst/>
          </a:prstGeom>
        </p:spPr>
      </p:pic>
      <p:sp>
        <p:nvSpPr>
          <p:cNvPr id="39431779" name="Text 5"/>
          <p:cNvSpPr/>
          <p:nvPr/>
        </p:nvSpPr>
        <p:spPr bwMode="auto">
          <a:xfrm>
            <a:off x="4599964" y="2934692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Automatic Alias Matching</a:t>
            </a:r>
            <a:endParaRPr lang="en-US" sz="1600"/>
          </a:p>
        </p:txBody>
      </p:sp>
      <p:sp>
        <p:nvSpPr>
          <p:cNvPr id="1954692298" name="Text 6"/>
          <p:cNvSpPr/>
          <p:nvPr/>
        </p:nvSpPr>
        <p:spPr bwMode="auto">
          <a:xfrm>
            <a:off x="4599964" y="3292376"/>
            <a:ext cx="3067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fa-IR" sz="1300">
                <a:solidFill>
                  <a:srgbClr val="405449"/>
                </a:solidFill>
                <a:latin typeface="Arial"/>
                <a:ea typeface="Arial"/>
                <a:cs typeface="Arial"/>
              </a:rPr>
              <a:t>Resolves real payment terms like "sadapay pe aaya", "naqad mila", "meezan transfer", or "ایزی پیسہ".</a:t>
            </a:r>
            <a:endParaRPr lang="fa-IR" sz="1300"/>
          </a:p>
        </p:txBody>
      </p:sp>
      <p:pic>
        <p:nvPicPr>
          <p:cNvPr id="2120192455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17468" y="2750344"/>
            <a:ext cx="3512653" cy="2049463"/>
          </a:xfrm>
          <a:prstGeom prst="rect">
            <a:avLst/>
          </a:prstGeom>
        </p:spPr>
      </p:pic>
      <p:sp>
        <p:nvSpPr>
          <p:cNvPr id="1416088397" name="Text 7"/>
          <p:cNvSpPr/>
          <p:nvPr/>
        </p:nvSpPr>
        <p:spPr bwMode="auto">
          <a:xfrm>
            <a:off x="8278010" y="293469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End-of-Day Balancing</a:t>
            </a:r>
            <a:endParaRPr lang="en-US" sz="1600"/>
          </a:p>
        </p:txBody>
      </p:sp>
      <p:sp>
        <p:nvSpPr>
          <p:cNvPr id="288997719" name="Text 8"/>
          <p:cNvSpPr/>
          <p:nvPr/>
        </p:nvSpPr>
        <p:spPr bwMode="auto">
          <a:xfrm>
            <a:off x="8278010" y="3292376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Separates cash-in-drawer from digital receipts, eliminating cashflow mismatches.</a:t>
            </a:r>
            <a:endParaRPr lang="en-US" sz="1300"/>
          </a:p>
        </p:txBody>
      </p:sp>
      <p:pic>
        <p:nvPicPr>
          <p:cNvPr id="458973342" name="Image 3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937198" y="5093097"/>
            <a:ext cx="1074810" cy="661491"/>
          </a:xfrm>
          <a:prstGeom prst="rect">
            <a:avLst/>
          </a:prstGeom>
        </p:spPr>
      </p:pic>
      <p:pic>
        <p:nvPicPr>
          <p:cNvPr id="1642186722" name="Image 4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144263" y="5093097"/>
            <a:ext cx="1074810" cy="661491"/>
          </a:xfrm>
          <a:prstGeom prst="rect">
            <a:avLst/>
          </a:prstGeom>
        </p:spPr>
      </p:pic>
      <p:pic>
        <p:nvPicPr>
          <p:cNvPr id="1376966973" name="Image 5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351328" y="5093097"/>
            <a:ext cx="1074810" cy="661491"/>
          </a:xfrm>
          <a:prstGeom prst="rect">
            <a:avLst/>
          </a:prstGeom>
        </p:spPr>
      </p:pic>
      <p:pic>
        <p:nvPicPr>
          <p:cNvPr id="1741518436" name="Image 6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558393" y="5093097"/>
            <a:ext cx="1074810" cy="661491"/>
          </a:xfrm>
          <a:prstGeom prst="rect">
            <a:avLst/>
          </a:prstGeom>
        </p:spPr>
      </p:pic>
      <p:pic>
        <p:nvPicPr>
          <p:cNvPr id="1795124974" name="Image 7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765458" y="5093097"/>
            <a:ext cx="1074810" cy="661491"/>
          </a:xfrm>
          <a:prstGeom prst="rect">
            <a:avLst/>
          </a:prstGeom>
        </p:spPr>
      </p:pic>
      <p:pic>
        <p:nvPicPr>
          <p:cNvPr id="1169871811" name="Image 8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7972523" y="5093097"/>
            <a:ext cx="1074810" cy="661491"/>
          </a:xfrm>
          <a:prstGeom prst="rect">
            <a:avLst/>
          </a:prstGeom>
        </p:spPr>
      </p:pic>
      <p:pic>
        <p:nvPicPr>
          <p:cNvPr id="1728922969" name="Image 9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9179588" y="5093097"/>
            <a:ext cx="1074810" cy="6614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211782" name="Shape 0"/>
          <p:cNvSpPr/>
          <p:nvPr/>
        </p:nvSpPr>
        <p:spPr bwMode="auto">
          <a:xfrm flipH="0" flipV="0">
            <a:off x="0" y="0"/>
            <a:ext cx="4265892" cy="6858000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40718098" name="Text 1"/>
          <p:cNvSpPr/>
          <p:nvPr/>
        </p:nvSpPr>
        <p:spPr bwMode="auto">
          <a:xfrm>
            <a:off x="5233360" y="964902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REAL-TIME WEB TELEMETRY</a:t>
            </a:r>
            <a:endParaRPr lang="en-US" sz="1600"/>
          </a:p>
        </p:txBody>
      </p:sp>
      <p:sp>
        <p:nvSpPr>
          <p:cNvPr id="551624420" name="Text 2"/>
          <p:cNvSpPr/>
          <p:nvPr/>
        </p:nvSpPr>
        <p:spPr bwMode="auto">
          <a:xfrm>
            <a:off x="5233360" y="128944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Live Dashboard &amp; Instant PDF Audits</a:t>
            </a:r>
            <a:endParaRPr lang="en-US" sz="3250"/>
          </a:p>
        </p:txBody>
      </p:sp>
      <p:sp>
        <p:nvSpPr>
          <p:cNvPr id="1172831497" name="Shape 3"/>
          <p:cNvSpPr/>
          <p:nvPr/>
        </p:nvSpPr>
        <p:spPr bwMode="auto">
          <a:xfrm>
            <a:off x="5233360" y="2658864"/>
            <a:ext cx="82647" cy="82649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1172396962" name="Text 4"/>
          <p:cNvSpPr/>
          <p:nvPr/>
        </p:nvSpPr>
        <p:spPr bwMode="auto">
          <a:xfrm>
            <a:off x="5481302" y="2570956"/>
            <a:ext cx="60489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Zero-Refresh WebSockets</a:t>
            </a:r>
            <a:endParaRPr lang="en-US" sz="1600"/>
          </a:p>
        </p:txBody>
      </p:sp>
      <p:sp>
        <p:nvSpPr>
          <p:cNvPr id="668834998" name="Text 5"/>
          <p:cNvSpPr/>
          <p:nvPr/>
        </p:nvSpPr>
        <p:spPr bwMode="auto">
          <a:xfrm>
            <a:off x="5481302" y="2928640"/>
            <a:ext cx="60489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Sales logged on WhatsApp appear on the live web dashboard in under 100 milliseconds.</a:t>
            </a:r>
            <a:endParaRPr lang="en-US" sz="1300"/>
          </a:p>
        </p:txBody>
      </p:sp>
      <p:sp>
        <p:nvSpPr>
          <p:cNvPr id="851952644" name="Shape 6"/>
          <p:cNvSpPr/>
          <p:nvPr/>
        </p:nvSpPr>
        <p:spPr bwMode="auto">
          <a:xfrm>
            <a:off x="5233360" y="3876477"/>
            <a:ext cx="82647" cy="82649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849081482" name="Text 7"/>
          <p:cNvSpPr/>
          <p:nvPr/>
        </p:nvSpPr>
        <p:spPr bwMode="auto">
          <a:xfrm>
            <a:off x="5481302" y="3788569"/>
            <a:ext cx="60489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On-Demand WhatsApp PDFs</a:t>
            </a:r>
            <a:endParaRPr lang="en-US" sz="1600"/>
          </a:p>
        </p:txBody>
      </p:sp>
      <p:sp>
        <p:nvSpPr>
          <p:cNvPr id="881992115" name="Text 8"/>
          <p:cNvSpPr/>
          <p:nvPr/>
        </p:nvSpPr>
        <p:spPr bwMode="auto">
          <a:xfrm>
            <a:off x="5481302" y="4146252"/>
            <a:ext cx="60489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Merchants type "report" or say "sales report bhejo" to receive audit-ready, formatted PDF ledgers directly in their chat.</a:t>
            </a:r>
            <a:endParaRPr lang="en-US" sz="1300"/>
          </a:p>
        </p:txBody>
      </p:sp>
      <p:sp>
        <p:nvSpPr>
          <p:cNvPr id="848249276" name="Shape 9"/>
          <p:cNvSpPr/>
          <p:nvPr/>
        </p:nvSpPr>
        <p:spPr bwMode="auto">
          <a:xfrm>
            <a:off x="5233360" y="5094089"/>
            <a:ext cx="82647" cy="82649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1238405336" name="Text 10"/>
          <p:cNvSpPr/>
          <p:nvPr/>
        </p:nvSpPr>
        <p:spPr bwMode="auto">
          <a:xfrm>
            <a:off x="5481302" y="5006181"/>
            <a:ext cx="60489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Responsive Modern UI</a:t>
            </a:r>
            <a:endParaRPr lang="en-US" sz="1600"/>
          </a:p>
        </p:txBody>
      </p:sp>
      <p:sp>
        <p:nvSpPr>
          <p:cNvPr id="1120585141" name="Text 11"/>
          <p:cNvSpPr/>
          <p:nvPr/>
        </p:nvSpPr>
        <p:spPr bwMode="auto">
          <a:xfrm>
            <a:off x="5481302" y="5363865"/>
            <a:ext cx="60489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Built with React 19, Tailwind CSS, and Obsidian Dark/Light modes for smooth operation on phones, tablets, or laptops.</a:t>
            </a:r>
            <a:endParaRPr lang="en-US" sz="1300"/>
          </a:p>
        </p:txBody>
      </p:sp>
      <p:pic>
        <p:nvPicPr>
          <p:cNvPr id="12436090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0"/>
            <a:ext cx="426589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269199" name="Shape 0"/>
          <p:cNvSpPr/>
          <p:nvPr/>
        </p:nvSpPr>
        <p:spPr bwMode="auto">
          <a:xfrm>
            <a:off x="0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55205161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647" y="123924"/>
            <a:ext cx="4406591" cy="6610052"/>
          </a:xfrm>
          <a:prstGeom prst="rect">
            <a:avLst/>
          </a:prstGeom>
        </p:spPr>
      </p:pic>
      <p:sp>
        <p:nvSpPr>
          <p:cNvPr id="126035130" name="Text 1"/>
          <p:cNvSpPr/>
          <p:nvPr/>
        </p:nvSpPr>
        <p:spPr bwMode="auto">
          <a:xfrm>
            <a:off x="5233360" y="964902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BUSINESS PROTECTION &amp; SAFETY GUARDRAILS</a:t>
            </a:r>
            <a:endParaRPr lang="en-US" sz="1600"/>
          </a:p>
        </p:txBody>
      </p:sp>
      <p:sp>
        <p:nvSpPr>
          <p:cNvPr id="732680961" name="Text 2"/>
          <p:cNvSpPr/>
          <p:nvPr/>
        </p:nvSpPr>
        <p:spPr bwMode="auto">
          <a:xfrm>
            <a:off x="5233360" y="128944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2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Spoken Automations and Fraud Defense</a:t>
            </a:r>
            <a:endParaRPr lang="en-US" sz="3250"/>
          </a:p>
        </p:txBody>
      </p:sp>
      <p:sp>
        <p:nvSpPr>
          <p:cNvPr id="986950534" name="Shape 3"/>
          <p:cNvSpPr/>
          <p:nvPr/>
        </p:nvSpPr>
        <p:spPr bwMode="auto">
          <a:xfrm>
            <a:off x="5233360" y="2658864"/>
            <a:ext cx="82647" cy="82649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129969369" name="Text 4"/>
          <p:cNvSpPr/>
          <p:nvPr/>
        </p:nvSpPr>
        <p:spPr bwMode="auto">
          <a:xfrm>
            <a:off x="5481302" y="2570956"/>
            <a:ext cx="60489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Spoken Workflow Creator</a:t>
            </a:r>
            <a:endParaRPr lang="en-US" sz="1600"/>
          </a:p>
        </p:txBody>
      </p:sp>
      <p:sp>
        <p:nvSpPr>
          <p:cNvPr id="93180371" name="Text 5"/>
          <p:cNvSpPr/>
          <p:nvPr/>
        </p:nvSpPr>
        <p:spPr bwMode="auto">
          <a:xfrm>
            <a:off x="5481302" y="2928640"/>
            <a:ext cx="60489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Merchants set active store alerts simply by talking: "Jab doodh 5 carton se kam ho toh mujhe alert karo."</a:t>
            </a:r>
            <a:endParaRPr lang="en-US" sz="1300"/>
          </a:p>
        </p:txBody>
      </p:sp>
      <p:sp>
        <p:nvSpPr>
          <p:cNvPr id="956523027" name="Shape 6"/>
          <p:cNvSpPr/>
          <p:nvPr/>
        </p:nvSpPr>
        <p:spPr bwMode="auto">
          <a:xfrm>
            <a:off x="5233360" y="3876477"/>
            <a:ext cx="82647" cy="82649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314048643" name="Text 7"/>
          <p:cNvSpPr/>
          <p:nvPr/>
        </p:nvSpPr>
        <p:spPr bwMode="auto">
          <a:xfrm>
            <a:off x="5481302" y="3788569"/>
            <a:ext cx="60489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High-Value Fraud Guard</a:t>
            </a:r>
            <a:endParaRPr lang="en-US" sz="1600"/>
          </a:p>
        </p:txBody>
      </p:sp>
      <p:sp>
        <p:nvSpPr>
          <p:cNvPr id="480990615" name="Text 8"/>
          <p:cNvSpPr/>
          <p:nvPr/>
        </p:nvSpPr>
        <p:spPr bwMode="auto">
          <a:xfrm>
            <a:off x="5481302" y="4146252"/>
            <a:ext cx="60489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Orders exceeding customizable thresholds (e.g. Rs. 10,000) pause automatically, requiring explicit WhatsApp button approval.</a:t>
            </a:r>
            <a:endParaRPr lang="en-US" sz="1300"/>
          </a:p>
        </p:txBody>
      </p:sp>
      <p:sp>
        <p:nvSpPr>
          <p:cNvPr id="1509738293" name="Shape 9"/>
          <p:cNvSpPr/>
          <p:nvPr/>
        </p:nvSpPr>
        <p:spPr bwMode="auto">
          <a:xfrm>
            <a:off x="5233360" y="5094089"/>
            <a:ext cx="82647" cy="82649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33499248" name="Text 10"/>
          <p:cNvSpPr/>
          <p:nvPr/>
        </p:nvSpPr>
        <p:spPr bwMode="auto">
          <a:xfrm>
            <a:off x="5481302" y="5006181"/>
            <a:ext cx="60489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Expiry Date Radar</a:t>
            </a:r>
            <a:endParaRPr lang="en-US" sz="1600"/>
          </a:p>
        </p:txBody>
      </p:sp>
      <p:sp>
        <p:nvSpPr>
          <p:cNvPr id="1864452771" name="Text 11"/>
          <p:cNvSpPr/>
          <p:nvPr/>
        </p:nvSpPr>
        <p:spPr bwMode="auto">
          <a:xfrm>
            <a:off x="5481302" y="5363865"/>
            <a:ext cx="60489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Automated alerts notify merchants days before perishables expire, saving stock from going to waste.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440584" name="Text 0"/>
          <p:cNvSpPr/>
          <p:nvPr/>
        </p:nvSpPr>
        <p:spPr bwMode="auto">
          <a:xfrm>
            <a:off x="661475" y="584101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PRODUCTION READY</a:t>
            </a:r>
            <a:endParaRPr lang="en-US" sz="1350"/>
          </a:p>
        </p:txBody>
      </p:sp>
      <p:sp>
        <p:nvSpPr>
          <p:cNvPr id="1506892525" name="Text 1"/>
          <p:cNvSpPr/>
          <p:nvPr/>
        </p:nvSpPr>
        <p:spPr bwMode="auto">
          <a:xfrm>
            <a:off x="661475" y="851396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Battle-Tested &amp; </a:t>
            </a:r>
            <a:r>
              <a:rPr lang="en-US" sz="2750">
                <a:solidFill>
                  <a:srgbClr val="25D366"/>
                </a:solidFill>
                <a:latin typeface="Fraunces ExtraBold"/>
                <a:ea typeface="Fraunces ExtraBold"/>
                <a:cs typeface="Fraunces ExtraBold"/>
              </a:rPr>
              <a:t>Live in Production</a:t>
            </a:r>
            <a:endParaRPr lang="en-US" sz="2750"/>
          </a:p>
        </p:txBody>
      </p:sp>
      <p:sp>
        <p:nvSpPr>
          <p:cNvPr id="1039079503" name="Text 2"/>
          <p:cNvSpPr/>
          <p:nvPr/>
        </p:nvSpPr>
        <p:spPr bwMode="auto">
          <a:xfrm>
            <a:off x="661475" y="1469827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VerbaTask is not a prototype. It is not a demo. It is a fully deployed, production-grade system with real infrastructure, real test coverage, and real merchant-facing endpoints running today.</a:t>
            </a:r>
            <a:endParaRPr lang="en-US" sz="1100"/>
          </a:p>
        </p:txBody>
      </p:sp>
      <p:sp>
        <p:nvSpPr>
          <p:cNvPr id="1592481107" name="Text 3"/>
          <p:cNvSpPr/>
          <p:nvPr/>
        </p:nvSpPr>
        <p:spPr bwMode="auto">
          <a:xfrm>
            <a:off x="1056157" y="2224881"/>
            <a:ext cx="4473463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36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61</a:t>
            </a:r>
            <a:endParaRPr lang="en-US" sz="3650"/>
          </a:p>
        </p:txBody>
      </p:sp>
      <p:sp>
        <p:nvSpPr>
          <p:cNvPr id="217798040" name="Text 4"/>
          <p:cNvSpPr/>
          <p:nvPr/>
        </p:nvSpPr>
        <p:spPr bwMode="auto">
          <a:xfrm>
            <a:off x="661475" y="2848670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Automated Tests</a:t>
            </a:r>
            <a:endParaRPr lang="en-US" sz="1350"/>
          </a:p>
        </p:txBody>
      </p:sp>
      <p:sp>
        <p:nvSpPr>
          <p:cNvPr id="905499086" name="Text 5"/>
          <p:cNvSpPr/>
          <p:nvPr/>
        </p:nvSpPr>
        <p:spPr bwMode="auto">
          <a:xfrm>
            <a:off x="661475" y="3187700"/>
            <a:ext cx="526292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End-to-end test suite covering voice parsing, entity extraction, inventory sync, and receipt generation.</a:t>
            </a:r>
            <a:endParaRPr lang="en-US" sz="1100"/>
          </a:p>
        </p:txBody>
      </p:sp>
      <p:sp>
        <p:nvSpPr>
          <p:cNvPr id="956964490" name="Text 6"/>
          <p:cNvSpPr/>
          <p:nvPr/>
        </p:nvSpPr>
        <p:spPr bwMode="auto">
          <a:xfrm>
            <a:off x="1056157" y="3912989"/>
            <a:ext cx="4473463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36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&lt;1s</a:t>
            </a:r>
            <a:endParaRPr lang="en-US" sz="3650"/>
          </a:p>
        </p:txBody>
      </p:sp>
      <p:sp>
        <p:nvSpPr>
          <p:cNvPr id="306436896" name="Text 7"/>
          <p:cNvSpPr/>
          <p:nvPr/>
        </p:nvSpPr>
        <p:spPr bwMode="auto">
          <a:xfrm>
            <a:off x="661475" y="4536777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End-to-End Latency</a:t>
            </a:r>
            <a:endParaRPr lang="en-US" sz="1350"/>
          </a:p>
        </p:txBody>
      </p:sp>
      <p:sp>
        <p:nvSpPr>
          <p:cNvPr id="216548862" name="Text 8"/>
          <p:cNvSpPr/>
          <p:nvPr/>
        </p:nvSpPr>
        <p:spPr bwMode="auto">
          <a:xfrm>
            <a:off x="661475" y="4875808"/>
            <a:ext cx="526292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From voice note received to receipt delivered — sub-second on production infrastructure.</a:t>
            </a:r>
            <a:endParaRPr lang="en-US" sz="1100"/>
          </a:p>
        </p:txBody>
      </p:sp>
      <p:sp>
        <p:nvSpPr>
          <p:cNvPr id="1260562337" name="Shape 9"/>
          <p:cNvSpPr/>
          <p:nvPr/>
        </p:nvSpPr>
        <p:spPr bwMode="auto">
          <a:xfrm>
            <a:off x="6273643" y="2154634"/>
            <a:ext cx="2571686" cy="1660327"/>
          </a:xfrm>
          <a:prstGeom prst="roundRect">
            <a:avLst>
              <a:gd name="adj" fmla="val 7620"/>
            </a:avLst>
          </a:prstGeom>
          <a:solidFill>
            <a:srgbClr val="E8F3E8"/>
          </a:solidFill>
          <a:ln/>
        </p:spPr>
      </p:sp>
      <p:sp>
        <p:nvSpPr>
          <p:cNvPr id="416680985" name="Text 10"/>
          <p:cNvSpPr/>
          <p:nvPr/>
        </p:nvSpPr>
        <p:spPr bwMode="auto">
          <a:xfrm>
            <a:off x="6414133" y="2295128"/>
            <a:ext cx="22907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Frontend</a:t>
            </a:r>
            <a:endParaRPr lang="en-US" sz="1350"/>
          </a:p>
        </p:txBody>
      </p:sp>
      <p:sp>
        <p:nvSpPr>
          <p:cNvPr id="1862664826" name="Text 11"/>
          <p:cNvSpPr/>
          <p:nvPr/>
        </p:nvSpPr>
        <p:spPr bwMode="auto">
          <a:xfrm>
            <a:off x="6414133" y="2634159"/>
            <a:ext cx="2290705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verba-task.netlify.app — live merchant dashboard with real-time WebSocket sync.</a:t>
            </a:r>
            <a:endParaRPr lang="en-US" sz="1100"/>
          </a:p>
        </p:txBody>
      </p:sp>
      <p:sp>
        <p:nvSpPr>
          <p:cNvPr id="265643074" name="Shape 12"/>
          <p:cNvSpPr/>
          <p:nvPr/>
        </p:nvSpPr>
        <p:spPr bwMode="auto">
          <a:xfrm>
            <a:off x="8964785" y="2154634"/>
            <a:ext cx="2571785" cy="1660327"/>
          </a:xfrm>
          <a:prstGeom prst="roundRect">
            <a:avLst>
              <a:gd name="adj" fmla="val 7620"/>
            </a:avLst>
          </a:prstGeom>
          <a:solidFill>
            <a:srgbClr val="E8F3E8"/>
          </a:solidFill>
          <a:ln/>
        </p:spPr>
      </p:sp>
      <p:sp>
        <p:nvSpPr>
          <p:cNvPr id="693029678" name="Text 13"/>
          <p:cNvSpPr/>
          <p:nvPr/>
        </p:nvSpPr>
        <p:spPr bwMode="auto">
          <a:xfrm>
            <a:off x="9105275" y="2295128"/>
            <a:ext cx="229080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Backend API</a:t>
            </a:r>
            <a:endParaRPr lang="en-US" sz="1350"/>
          </a:p>
        </p:txBody>
      </p:sp>
      <p:sp>
        <p:nvSpPr>
          <p:cNvPr id="1038676609" name="Text 14"/>
          <p:cNvSpPr/>
          <p:nvPr/>
        </p:nvSpPr>
        <p:spPr bwMode="auto">
          <a:xfrm>
            <a:off x="9105275" y="2634159"/>
            <a:ext cx="2290804" cy="104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verbatask-production.up.railway.app — production Railway deployment handling live WhatsApp webhook traffic.</a:t>
            </a:r>
            <a:endParaRPr lang="en-US" sz="1100"/>
          </a:p>
        </p:txBody>
      </p:sp>
      <p:sp>
        <p:nvSpPr>
          <p:cNvPr id="1758528355" name="Shape 15"/>
          <p:cNvSpPr/>
          <p:nvPr/>
        </p:nvSpPr>
        <p:spPr bwMode="auto">
          <a:xfrm>
            <a:off x="6273643" y="3934420"/>
            <a:ext cx="5262927" cy="1036141"/>
          </a:xfrm>
          <a:prstGeom prst="roundRect">
            <a:avLst>
              <a:gd name="adj" fmla="val 12211"/>
            </a:avLst>
          </a:prstGeom>
          <a:solidFill>
            <a:srgbClr val="E8F3E8"/>
          </a:solidFill>
          <a:ln/>
        </p:spPr>
      </p:sp>
      <p:sp>
        <p:nvSpPr>
          <p:cNvPr id="1429116760" name="Text 16"/>
          <p:cNvSpPr/>
          <p:nvPr/>
        </p:nvSpPr>
        <p:spPr bwMode="auto">
          <a:xfrm>
            <a:off x="6414133" y="4074914"/>
            <a:ext cx="498194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</a:rPr>
              <a:t>Payments Ready</a:t>
            </a:r>
            <a:endParaRPr lang="en-US" sz="1350"/>
          </a:p>
        </p:txBody>
      </p:sp>
      <p:sp>
        <p:nvSpPr>
          <p:cNvPr id="1608299827" name="Text 17"/>
          <p:cNvSpPr/>
          <p:nvPr/>
        </p:nvSpPr>
        <p:spPr bwMode="auto">
          <a:xfrm>
            <a:off x="6414133" y="4413945"/>
            <a:ext cx="4981946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EasyPaisa, JazzCash, Meezan Bank, HBL — Pakistan's full digital payment stack integrated and mapped.</a:t>
            </a:r>
            <a:endParaRPr lang="en-US" sz="1100"/>
          </a:p>
        </p:txBody>
      </p:sp>
      <p:sp>
        <p:nvSpPr>
          <p:cNvPr id="22654392" name="Shape 18"/>
          <p:cNvSpPr/>
          <p:nvPr/>
        </p:nvSpPr>
        <p:spPr bwMode="auto">
          <a:xfrm>
            <a:off x="661475" y="5560616"/>
            <a:ext cx="10868745" cy="713284"/>
          </a:xfrm>
          <a:prstGeom prst="roundRect">
            <a:avLst>
              <a:gd name="adj" fmla="val 17738"/>
            </a:avLst>
          </a:prstGeom>
          <a:solidFill>
            <a:srgbClr val="DDEEE0"/>
          </a:solidFill>
          <a:ln/>
        </p:spPr>
      </p:sp>
      <p:pic>
        <p:nvPicPr>
          <p:cNvPr id="118885311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1965" y="5731966"/>
            <a:ext cx="175712" cy="140494"/>
          </a:xfrm>
          <a:prstGeom prst="rect">
            <a:avLst/>
          </a:prstGeom>
        </p:spPr>
      </p:pic>
      <p:sp>
        <p:nvSpPr>
          <p:cNvPr id="2096003273" name="Text 19"/>
          <p:cNvSpPr/>
          <p:nvPr/>
        </p:nvSpPr>
        <p:spPr bwMode="auto">
          <a:xfrm>
            <a:off x="1118167" y="5715198"/>
            <a:ext cx="10271563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1100">
                <a:solidFill>
                  <a:srgbClr val="000000"/>
                </a:solidFill>
                <a:latin typeface="Nobile"/>
                <a:ea typeface="Nobile"/>
                <a:cs typeface="Nobile"/>
              </a:rPr>
              <a:t>Ready to scale. Ready to partner. Ready to put a voice-first commerce OS in the hands of every dukaandar in Pakistan. — </a:t>
            </a:r>
            <a:r>
              <a:rPr lang="en-US" sz="1100" b="1">
                <a:solidFill>
                  <a:srgbClr val="000000"/>
                </a:solidFill>
                <a:latin typeface="Nobile Bold"/>
                <a:ea typeface="Nobile Bold"/>
                <a:cs typeface="Nobile Bold"/>
              </a:rPr>
              <a:t>verbatask.business@gmail.com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184949" name="Text 0"/>
          <p:cNvSpPr/>
          <p:nvPr/>
        </p:nvSpPr>
        <p:spPr bwMode="auto">
          <a:xfrm>
            <a:off x="661475" y="110033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fa-IR" sz="3250" b="1">
                <a:solidFill>
                  <a:srgbClr val="3B4540"/>
                </a:solidFill>
                <a:latin typeface="Arial"/>
                <a:ea typeface="Arial"/>
                <a:cs typeface="Arial"/>
              </a:rPr>
              <a:t>Thank You / شکریہ</a:t>
            </a:r>
            <a:endParaRPr lang="fa-IR" sz="3250"/>
          </a:p>
        </p:txBody>
      </p:sp>
      <p:sp>
        <p:nvSpPr>
          <p:cNvPr id="1195639431" name="Text 1"/>
          <p:cNvSpPr/>
          <p:nvPr/>
        </p:nvSpPr>
        <p:spPr bwMode="auto">
          <a:xfrm>
            <a:off x="661475" y="168314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Digitizing Pakistan's Main Street, One Voice Note at a Time.</a:t>
            </a:r>
            <a:endParaRPr lang="en-US" sz="1600"/>
          </a:p>
        </p:txBody>
      </p:sp>
      <p:sp>
        <p:nvSpPr>
          <p:cNvPr id="31437878" name="Text 2"/>
          <p:cNvSpPr/>
          <p:nvPr/>
        </p:nvSpPr>
        <p:spPr bwMode="auto">
          <a:xfrm>
            <a:off x="661475" y="235495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Try the Live System</a:t>
            </a:r>
            <a:endParaRPr lang="en-US" sz="1600"/>
          </a:p>
        </p:txBody>
      </p:sp>
      <p:sp>
        <p:nvSpPr>
          <p:cNvPr id="1874719269" name="Text 3"/>
          <p:cNvSpPr/>
          <p:nvPr/>
        </p:nvSpPr>
        <p:spPr bwMode="auto">
          <a:xfrm>
            <a:off x="661475" y="2778720"/>
            <a:ext cx="5232666" cy="233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Live Web Platform:</a:t>
            </a:r>
            <a:endParaRPr lang="en-US" sz="130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  <a:defRPr/>
            </a:pPr>
            <a:r>
              <a:rPr lang="en-US" sz="1300" b="1" u="sng">
                <a:solidFill>
                  <a:srgbClr val="438951"/>
                </a:solidFill>
                <a:latin typeface="Nobile Bold"/>
                <a:ea typeface="Nobile Bold"/>
                <a:cs typeface="Nobile Bold"/>
                <a:hlinkClick r:id="rId3" tooltip=""/>
              </a:rPr>
              <a:t>verba-task.netlify.app</a:t>
            </a:r>
            <a:endParaRPr lang="en-US" sz="130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Production API &amp; WhatsApp Bot:</a:t>
            </a:r>
            <a:endParaRPr lang="en-US" sz="130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  <a:defRPr/>
            </a:pPr>
            <a:r>
              <a:rPr lang="en-US" sz="1300" b="1" u="sng">
                <a:solidFill>
                  <a:srgbClr val="438951"/>
                </a:solidFill>
                <a:latin typeface="Nobile Bold"/>
                <a:ea typeface="Nobile Bold"/>
                <a:cs typeface="Nobile Bold"/>
                <a:hlinkClick r:id="rId4" tooltip=""/>
              </a:rPr>
              <a:t>verbatask-production.up.railway.app</a:t>
            </a:r>
            <a:endParaRPr lang="en-US" sz="130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Official Inquiries &amp; Partnerships:</a:t>
            </a:r>
            <a:endParaRPr lang="en-US" sz="1300"/>
          </a:p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 b="1" u="sng">
                <a:solidFill>
                  <a:srgbClr val="438951"/>
                </a:solidFill>
                <a:latin typeface="Nobile Bold"/>
                <a:ea typeface="Nobile Bold"/>
                <a:cs typeface="Nobile Bold"/>
                <a:hlinkClick r:id="rId5" tooltip=""/>
              </a:rPr>
              <a:t>verbatask.business@gmail.com</a:t>
            </a:r>
            <a:endParaRPr lang="en-US" sz="1300"/>
          </a:p>
        </p:txBody>
      </p:sp>
      <p:sp>
        <p:nvSpPr>
          <p:cNvPr id="1701459380" name="Text 4"/>
          <p:cNvSpPr/>
          <p:nvPr/>
        </p:nvSpPr>
        <p:spPr bwMode="auto">
          <a:xfrm>
            <a:off x="6303904" y="235495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Open for Q&amp;A</a:t>
            </a:r>
            <a:endParaRPr lang="en-US" sz="1600"/>
          </a:p>
        </p:txBody>
      </p:sp>
      <p:sp>
        <p:nvSpPr>
          <p:cNvPr id="975806325" name="Text 5"/>
          <p:cNvSpPr/>
          <p:nvPr/>
        </p:nvSpPr>
        <p:spPr bwMode="auto">
          <a:xfrm>
            <a:off x="6303904" y="2778720"/>
            <a:ext cx="5232666" cy="94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Team VerbaTask:</a:t>
            </a:r>
            <a:endParaRPr lang="en-US" sz="1300"/>
          </a:p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Muhammad Soban • Muhammad Ali • Talal Nasir • Muhammad Shiraz</a:t>
            </a:r>
            <a:endParaRPr lang="en-US" sz="1300"/>
          </a:p>
        </p:txBody>
      </p:sp>
      <p:sp>
        <p:nvSpPr>
          <p:cNvPr id="720135162" name="Text 6"/>
          <p:cNvSpPr/>
          <p:nvPr/>
        </p:nvSpPr>
        <p:spPr bwMode="auto">
          <a:xfrm>
            <a:off x="6303904" y="388669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</a:rPr>
              <a:t>The Closing Thought:</a:t>
            </a:r>
            <a:endParaRPr lang="en-US" sz="1600"/>
          </a:p>
        </p:txBody>
      </p:sp>
      <p:sp>
        <p:nvSpPr>
          <p:cNvPr id="1244889684" name="Text 7"/>
          <p:cNvSpPr/>
          <p:nvPr/>
        </p:nvSpPr>
        <p:spPr bwMode="auto">
          <a:xfrm>
            <a:off x="6551945" y="4480024"/>
            <a:ext cx="49846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"Technology shouldn't require a classroom. If a merchant can speak, they can run their business on VerbaTask."</a:t>
            </a:r>
            <a:endParaRPr lang="en-US" sz="1300"/>
          </a:p>
        </p:txBody>
      </p:sp>
      <p:sp>
        <p:nvSpPr>
          <p:cNvPr id="117496482" name="Shape 8"/>
          <p:cNvSpPr/>
          <p:nvPr/>
        </p:nvSpPr>
        <p:spPr bwMode="auto">
          <a:xfrm>
            <a:off x="6303904" y="4331196"/>
            <a:ext cx="19050" cy="826889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  <p:sp>
        <p:nvSpPr>
          <p:cNvPr id="1980210478" name="Text 9"/>
          <p:cNvSpPr/>
          <p:nvPr/>
        </p:nvSpPr>
        <p:spPr bwMode="auto">
          <a:xfrm>
            <a:off x="6303904" y="5344120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300">
                <a:solidFill>
                  <a:srgbClr val="405449"/>
                </a:solidFill>
                <a:latin typeface="Nobile"/>
                <a:ea typeface="Nobile"/>
                <a:cs typeface="Nobile"/>
              </a:rPr>
              <a:t>We are now ready for your questions and live demonstration.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3895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2026-09-07T16:51:42Z</dcterms:created>
  <dcterms:modified xsi:type="dcterms:W3CDTF">2026-09-07T18:05:07Z</dcterms:modified>
</cp:coreProperties>
</file>